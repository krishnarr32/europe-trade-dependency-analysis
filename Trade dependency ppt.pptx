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1.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embeddedFontLst>
    <p:embeddedFont>
      <p:font typeface="Play" panose="020B0604020202020204" charset="0"/>
      <p:regular r:id="rId25"/>
      <p:bold r:id="rId26"/>
    </p:embeddedFont>
    <p:embeddedFont>
      <p:font typeface="Roboto Mono" panose="020F0502020204030204" pitchFamily="49"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grRMpS+rXtPzToweWQ4HrgZotL/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lva Ramirez"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commentAuthors" Target="commentAuthors.xml"/><Relationship Id="rId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5-11-18T22:37:31.575" idx="1">
    <p:pos x="348" y="846"/>
    <p:text># --- Trade-to-GDP ratio is calculating Trade Dependency instead of national self sufficiency
merged_df["Trade_to_GDP"] = (merged_df["Total_Trade_USM"] / merged_df["GDP_Million"]) * 100</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we-nRxA"/>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a:t>Introduction and Data: Patrick (1.5 min)</a:t>
            </a:r>
            <a:endParaRPr/>
          </a:p>
          <a:p>
            <a:pPr marL="0" lvl="0" indent="0" algn="l" rtl="0">
              <a:lnSpc>
                <a:spcPct val="115000"/>
              </a:lnSpc>
              <a:spcBef>
                <a:spcPts val="0"/>
              </a:spcBef>
              <a:spcAft>
                <a:spcPts val="0"/>
              </a:spcAft>
              <a:buClr>
                <a:schemeClr val="dk1"/>
              </a:buClr>
              <a:buSzPts val="1100"/>
              <a:buFont typeface="Arial"/>
              <a:buNone/>
            </a:pPr>
            <a:r>
              <a:rPr lang="en-US"/>
              <a:t>Question 1. Elva (1 min)</a:t>
            </a:r>
            <a:endParaRPr/>
          </a:p>
          <a:p>
            <a:pPr marL="0" lvl="0" indent="0" algn="l" rtl="0">
              <a:lnSpc>
                <a:spcPct val="115000"/>
              </a:lnSpc>
              <a:spcBef>
                <a:spcPts val="0"/>
              </a:spcBef>
              <a:spcAft>
                <a:spcPts val="0"/>
              </a:spcAft>
              <a:buClr>
                <a:schemeClr val="dk1"/>
              </a:buClr>
              <a:buSzPts val="1100"/>
              <a:buFont typeface="Arial"/>
              <a:buNone/>
            </a:pPr>
            <a:r>
              <a:rPr lang="en-US"/>
              <a:t>Question 2. Emma (1 min)</a:t>
            </a:r>
            <a:endParaRPr/>
          </a:p>
          <a:p>
            <a:pPr marL="0" lvl="0" indent="0" algn="l" rtl="0">
              <a:lnSpc>
                <a:spcPct val="115000"/>
              </a:lnSpc>
              <a:spcBef>
                <a:spcPts val="0"/>
              </a:spcBef>
              <a:spcAft>
                <a:spcPts val="0"/>
              </a:spcAft>
              <a:buClr>
                <a:schemeClr val="dk1"/>
              </a:buClr>
              <a:buSzPts val="1100"/>
              <a:buFont typeface="Arial"/>
              <a:buNone/>
            </a:pPr>
            <a:r>
              <a:rPr lang="en-US"/>
              <a:t>Question 3. Sai (2 min)</a:t>
            </a:r>
            <a:endParaRPr/>
          </a:p>
          <a:p>
            <a:pPr marL="0" lvl="0" indent="0" algn="l" rtl="0">
              <a:lnSpc>
                <a:spcPct val="115000"/>
              </a:lnSpc>
              <a:spcBef>
                <a:spcPts val="0"/>
              </a:spcBef>
              <a:spcAft>
                <a:spcPts val="0"/>
              </a:spcAft>
              <a:buClr>
                <a:schemeClr val="dk1"/>
              </a:buClr>
              <a:buSzPts val="1100"/>
              <a:buFont typeface="Arial"/>
              <a:buNone/>
            </a:pPr>
            <a:r>
              <a:rPr lang="en-US"/>
              <a:t>Implications and Limitations: Vanessa (2 min)</a:t>
            </a:r>
            <a:endParaRPr/>
          </a:p>
          <a:p>
            <a:pPr marL="0" lvl="0" indent="0" algn="l" rtl="0">
              <a:lnSpc>
                <a:spcPct val="115000"/>
              </a:lnSpc>
              <a:spcBef>
                <a:spcPts val="0"/>
              </a:spcBef>
              <a:spcAft>
                <a:spcPts val="0"/>
              </a:spcAft>
              <a:buClr>
                <a:schemeClr val="dk1"/>
              </a:buClr>
              <a:buSzPts val="1100"/>
              <a:buFont typeface="Arial"/>
              <a:buNone/>
            </a:pPr>
            <a:r>
              <a:rPr lang="en-US"/>
              <a:t>Web scraping and conclusion: Shardul (2 min)</a:t>
            </a:r>
            <a:endParaRPr/>
          </a:p>
          <a:p>
            <a:pPr marL="0" marR="0" lvl="0" indent="0" algn="l" rtl="0">
              <a:lnSpc>
                <a:spcPct val="100000"/>
              </a:lnSpc>
              <a:spcBef>
                <a:spcPts val="0"/>
              </a:spcBef>
              <a:spcAft>
                <a:spcPts val="0"/>
              </a:spcAft>
              <a:buClr>
                <a:schemeClr val="dk1"/>
              </a:buClr>
              <a:buSzPts val="1200"/>
              <a:buFont typeface="Arial"/>
              <a:buNone/>
            </a:pPr>
            <a:br>
              <a:rPr lang="en-US"/>
            </a:br>
            <a:r>
              <a:rPr lang="en-US"/>
              <a:t>Good evening everyone, my name is Patrick. Today we’d like to present to the European trade union our findings regarding trade dependencies and economic vulnerability of the key EU. I’d like to introduce my team of analysts, Ema, Elva, Sai, Shardul and Vanessa. </a:t>
            </a:r>
            <a:endParaRPr/>
          </a:p>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We’d be focusing on analysing the trade dependencies across regions, an within the most trade dependent region, identifying the most trade dependent countries, and examining the areas of economic vulnerability in these countries. </a:t>
            </a:r>
            <a:endParaRPr/>
          </a:p>
        </p:txBody>
      </p:sp>
      <p:sp>
        <p:nvSpPr>
          <p:cNvPr id="99" name="Google Shape;9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We’ve used 3 datasets for our analysis. </a:t>
            </a:r>
            <a:endParaRPr/>
          </a:p>
          <a:p>
            <a:pPr marL="0" lvl="0" indent="0" algn="l" rtl="0">
              <a:spcBef>
                <a:spcPts val="0"/>
              </a:spcBef>
              <a:spcAft>
                <a:spcPts val="0"/>
              </a:spcAft>
              <a:buNone/>
            </a:pPr>
            <a:r>
              <a:rPr lang="en-US"/>
              <a:t>The first dataset is the GDP data which was extracted from the world bank open data. </a:t>
            </a:r>
            <a:endParaRPr/>
          </a:p>
          <a:p>
            <a:pPr marL="0" lvl="0" indent="0" algn="l" rtl="0">
              <a:spcBef>
                <a:spcPts val="0"/>
              </a:spcBef>
              <a:spcAft>
                <a:spcPts val="0"/>
              </a:spcAft>
              <a:buNone/>
            </a:pPr>
            <a:r>
              <a:rPr lang="en-US"/>
              <a:t>The second dataset is the trade data from UN comtrade, which includes data like export and import values, and based on that we were able to calculate the total trade, trade balance of each country. </a:t>
            </a:r>
            <a:endParaRPr/>
          </a:p>
          <a:p>
            <a:pPr marL="0" lvl="0" indent="0" algn="l" rtl="0">
              <a:spcBef>
                <a:spcPts val="0"/>
              </a:spcBef>
              <a:spcAft>
                <a:spcPts val="0"/>
              </a:spcAft>
              <a:buNone/>
            </a:pPr>
            <a:r>
              <a:rPr lang="en-US"/>
              <a:t>The third dataset was from world integrated trade solution, which includes the specific product categories of what has been trade in the country. We’ve audited and merged these datasets together using the country code, for further analysis. </a:t>
            </a:r>
            <a:endParaRPr/>
          </a:p>
          <a:p>
            <a:pPr marL="0" lvl="0" indent="0" algn="l" rtl="0">
              <a:spcBef>
                <a:spcPts val="0"/>
              </a:spcBef>
              <a:spcAft>
                <a:spcPts val="0"/>
              </a:spcAft>
              <a:buNone/>
            </a:pPr>
            <a:endParaRPr/>
          </a:p>
          <a:p>
            <a:pPr marL="0" lvl="0" indent="0" algn="l" rtl="0">
              <a:spcBef>
                <a:spcPts val="0"/>
              </a:spcBef>
              <a:spcAft>
                <a:spcPts val="0"/>
              </a:spcAft>
              <a:buNone/>
            </a:pPr>
            <a:r>
              <a:rPr lang="en-US"/>
              <a:t>Now I’ll hand it over to Elva to talk about our first theme. </a:t>
            </a:r>
            <a:endParaRPr/>
          </a:p>
        </p:txBody>
      </p:sp>
      <p:sp>
        <p:nvSpPr>
          <p:cNvPr id="112" name="Google Shape;11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endParaRPr/>
          </a:p>
          <a:p>
            <a:pPr marL="0" lvl="0" indent="0" algn="l" rtl="0">
              <a:spcBef>
                <a:spcPts val="0"/>
              </a:spcBef>
              <a:spcAft>
                <a:spcPts val="0"/>
              </a:spcAft>
              <a:buNone/>
            </a:pPr>
            <a:endParaRPr/>
          </a:p>
        </p:txBody>
      </p:sp>
      <p:sp>
        <p:nvSpPr>
          <p:cNvPr id="142" name="Google Shape;142;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100"/>
              <a:t>The regional comparison shows a very clear pattern: </a:t>
            </a:r>
            <a:r>
              <a:rPr lang="en-US" sz="1100" b="1"/>
              <a:t>Europe is the most trade-dependent region globally</a:t>
            </a:r>
            <a:r>
              <a:rPr lang="en-US" sz="1100"/>
              <a:t>, with trade flows nearly matching its entire GDP.</a:t>
            </a:r>
            <a:endParaRPr sz="1100"/>
          </a:p>
          <a:p>
            <a:pPr marL="0" lvl="0" indent="0" algn="l" rtl="0">
              <a:spcBef>
                <a:spcPts val="0"/>
              </a:spcBef>
              <a:spcAft>
                <a:spcPts val="0"/>
              </a:spcAft>
              <a:buNone/>
            </a:pPr>
            <a:r>
              <a:rPr lang="en-US" sz="1100"/>
              <a:t>This indicates a high level of integration into global supply chains, where production and demand rely strongly on cross-border activities.</a:t>
            </a:r>
            <a:endParaRPr/>
          </a:p>
        </p:txBody>
      </p:sp>
      <p:sp>
        <p:nvSpPr>
          <p:cNvPr id="153" name="Google Shape;15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sz="1100"/>
              <a:t>When we zoom into Europe, three economies stand out: </a:t>
            </a:r>
            <a:r>
              <a:rPr lang="en-US" sz="1100" b="1"/>
              <a:t>Slovenia, Slovakia, and Hungary</a:t>
            </a:r>
            <a:r>
              <a:rPr lang="en-US" sz="1100"/>
              <a:t>.</a:t>
            </a:r>
            <a:endParaRPr sz="1100"/>
          </a:p>
          <a:p>
            <a:pPr marL="0" lvl="0" indent="0" algn="l" rtl="0">
              <a:spcBef>
                <a:spcPts val="0"/>
              </a:spcBef>
              <a:spcAft>
                <a:spcPts val="0"/>
              </a:spcAft>
              <a:buClr>
                <a:schemeClr val="dk1"/>
              </a:buClr>
              <a:buSzPts val="1100"/>
              <a:buFont typeface="Arial"/>
              <a:buNone/>
            </a:pPr>
            <a:r>
              <a:rPr lang="en-US" sz="1100"/>
              <a:t>Each trades close to </a:t>
            </a:r>
            <a:r>
              <a:rPr lang="en-US" sz="1100" b="1"/>
              <a:t>190% of their GDP</a:t>
            </a:r>
            <a:r>
              <a:rPr lang="en-US" sz="1100"/>
              <a:t>, meaning they trade almost twice the value of what they produce.</a:t>
            </a:r>
            <a:endParaRPr sz="1100"/>
          </a:p>
          <a:p>
            <a:pPr marL="0" lvl="0" indent="0" algn="l" rtl="0">
              <a:spcBef>
                <a:spcPts val="0"/>
              </a:spcBef>
              <a:spcAft>
                <a:spcPts val="0"/>
              </a:spcAft>
              <a:buNone/>
            </a:pPr>
            <a:r>
              <a:rPr lang="en-US" sz="1100"/>
              <a:t>This reflects a structural dependence on international markets and tightly connected manufacturing networks</a:t>
            </a:r>
            <a:endParaRPr b="1"/>
          </a:p>
          <a:p>
            <a:pPr marL="0" lvl="0" indent="0" algn="l" rtl="0">
              <a:spcBef>
                <a:spcPts val="0"/>
              </a:spcBef>
              <a:spcAft>
                <a:spcPts val="0"/>
              </a:spcAft>
              <a:buClr>
                <a:schemeClr val="dk1"/>
              </a:buClr>
              <a:buSzPts val="1100"/>
              <a:buFont typeface="Arial"/>
              <a:buNone/>
            </a:pPr>
            <a:endParaRPr sz="1100"/>
          </a:p>
          <a:p>
            <a:pPr marL="0" lvl="0" indent="0" algn="l" rtl="0">
              <a:spcBef>
                <a:spcPts val="0"/>
              </a:spcBef>
              <a:spcAft>
                <a:spcPts val="0"/>
              </a:spcAft>
              <a:buNone/>
            </a:pPr>
            <a:r>
              <a:rPr lang="en-US" sz="1100"/>
              <a:t>Overall, the analysis shows that Europe—and especially these three economies—face both the benefits and the risks of high openness, making them more sensitive to global economic conditions.</a:t>
            </a:r>
            <a:endParaRPr/>
          </a:p>
        </p:txBody>
      </p:sp>
      <p:sp>
        <p:nvSpPr>
          <p:cNvPr id="164" name="Google Shape;16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Script: </a:t>
            </a:r>
            <a:endParaRPr/>
          </a:p>
          <a:p>
            <a:pPr marL="457200" lvl="0" indent="-317500" algn="l" rtl="0">
              <a:spcBef>
                <a:spcPts val="0"/>
              </a:spcBef>
              <a:spcAft>
                <a:spcPts val="0"/>
              </a:spcAft>
              <a:buSzPts val="1400"/>
              <a:buChar char="-"/>
            </a:pPr>
            <a:r>
              <a:rPr lang="en-US"/>
              <a:t>computing the Export to GDP and Import to GDP to further highlight whether they import more or export more</a:t>
            </a:r>
            <a:endParaRPr/>
          </a:p>
          <a:p>
            <a:pPr marL="457200" lvl="0" indent="-317500" algn="l" rtl="0">
              <a:spcBef>
                <a:spcPts val="0"/>
              </a:spcBef>
              <a:spcAft>
                <a:spcPts val="0"/>
              </a:spcAft>
              <a:buSzPts val="1400"/>
              <a:buChar char="-"/>
            </a:pPr>
            <a:r>
              <a:rPr lang="en-US"/>
              <a:t>Based on the chart, all three countries has higher exports than imports (colored in Teal) </a:t>
            </a:r>
            <a:endParaRPr/>
          </a:p>
          <a:p>
            <a:pPr marL="457200" lvl="0" indent="-317500" algn="l" rtl="0">
              <a:spcBef>
                <a:spcPts val="0"/>
              </a:spcBef>
              <a:spcAft>
                <a:spcPts val="0"/>
              </a:spcAft>
              <a:buSzPts val="1400"/>
              <a:buChar char="-"/>
            </a:pPr>
            <a:r>
              <a:rPr lang="en-US"/>
              <a:t>Slovenia has largest difference between imports and exports (100.3 export 94.4 import - approx 6% difference, while others are around 3 or less)</a:t>
            </a:r>
            <a:endParaRPr/>
          </a:p>
          <a:p>
            <a:pPr marL="457200" lvl="0" indent="-317500" algn="l" rtl="0">
              <a:spcBef>
                <a:spcPts val="0"/>
              </a:spcBef>
              <a:spcAft>
                <a:spcPts val="0"/>
              </a:spcAft>
              <a:buSzPts val="1400"/>
              <a:buChar char="-"/>
            </a:pPr>
            <a:r>
              <a:rPr lang="en-US"/>
              <a:t>Though overall they all present relatively balanced between imports and exports</a:t>
            </a:r>
            <a:endParaRPr/>
          </a:p>
          <a:p>
            <a:pPr marL="457200" lvl="0" indent="-317500" algn="l" rtl="0">
              <a:spcBef>
                <a:spcPts val="0"/>
              </a:spcBef>
              <a:spcAft>
                <a:spcPts val="0"/>
              </a:spcAft>
              <a:buSzPts val="1400"/>
              <a:buChar char="-"/>
            </a:pPr>
            <a:r>
              <a:rPr lang="en-US"/>
              <a:t>To look into this further, we will be looking into the types of goods that contributes to imports and exports. Sai will run this through in more detail</a:t>
            </a:r>
            <a:endParaRPr/>
          </a:p>
        </p:txBody>
      </p:sp>
      <p:sp>
        <p:nvSpPr>
          <p:cNvPr id="188" name="Google Shape;188;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None/>
            </a:pPr>
            <a:r>
              <a:rPr lang="en-US" sz="1100"/>
              <a:t> script : After finding that </a:t>
            </a:r>
            <a:r>
              <a:rPr lang="en-US" sz="1100" b="1"/>
              <a:t>Slovenia, Slovakia, and Hungary</a:t>
            </a:r>
            <a:r>
              <a:rPr lang="en-US" sz="1100"/>
              <a:t> are the most trade-dependent nations in Europe, we needed to know: </a:t>
            </a:r>
            <a:r>
              <a:rPr lang="en-US" sz="1100" b="1"/>
              <a:t>What exactly are they trading?</a:t>
            </a:r>
            <a:r>
              <a:rPr lang="en-US" sz="1100"/>
              <a:t> What products drive their economy? knowing the total trade value is not enough. We need to see the </a:t>
            </a:r>
            <a:r>
              <a:rPr lang="en-US" sz="1100" b="1"/>
              <a:t>breakdown</a:t>
            </a:r>
            <a:r>
              <a:rPr lang="en-US" sz="1100"/>
              <a:t> of goods to find their strengths and weaknesses. This helps policymakers protect their industries during global problems, like a pandemic or war.</a:t>
            </a:r>
            <a:endParaRPr sz="1100"/>
          </a:p>
          <a:p>
            <a:pPr marL="0" lvl="0" indent="0" algn="l" rtl="0">
              <a:lnSpc>
                <a:spcPct val="115000"/>
              </a:lnSpc>
              <a:spcBef>
                <a:spcPts val="1200"/>
              </a:spcBef>
              <a:spcAft>
                <a:spcPts val="0"/>
              </a:spcAft>
              <a:buNone/>
            </a:pPr>
            <a:r>
              <a:rPr lang="en-US" sz="1100"/>
              <a:t>We took each country’s total trade and split it into four simple categories: </a:t>
            </a:r>
            <a:r>
              <a:rPr lang="en-US" sz="1100" b="1"/>
              <a:t>Raw Materials</a:t>
            </a:r>
            <a:r>
              <a:rPr lang="en-US" sz="1100"/>
              <a:t>, </a:t>
            </a:r>
            <a:r>
              <a:rPr lang="en-US" sz="1100" b="1"/>
              <a:t>Intermediate Goods</a:t>
            </a:r>
            <a:r>
              <a:rPr lang="en-US" sz="1100"/>
              <a:t> (parts), </a:t>
            </a:r>
            <a:r>
              <a:rPr lang="en-US" sz="1100" b="1"/>
              <a:t>Capital Goods</a:t>
            </a:r>
            <a:r>
              <a:rPr lang="en-US" sz="1100"/>
              <a:t> (machinery), and </a:t>
            </a:r>
            <a:r>
              <a:rPr lang="en-US" sz="1100" b="1"/>
              <a:t>Consumer Goods</a:t>
            </a:r>
            <a:r>
              <a:rPr lang="en-US" sz="1100"/>
              <a:t> (like finished electronics or clothes). This bar chart shows the final result."</a:t>
            </a:r>
            <a:endParaRPr sz="1100"/>
          </a:p>
          <a:p>
            <a:pPr marL="0" lvl="0" indent="0" algn="l" rtl="0">
              <a:lnSpc>
                <a:spcPct val="115000"/>
              </a:lnSpc>
              <a:spcBef>
                <a:spcPts val="1200"/>
              </a:spcBef>
              <a:spcAft>
                <a:spcPts val="0"/>
              </a:spcAft>
              <a:buClr>
                <a:schemeClr val="dk1"/>
              </a:buClr>
              <a:buSzPts val="1100"/>
              <a:buFont typeface="Arial"/>
              <a:buNone/>
            </a:pPr>
            <a:endParaRPr sz="1100"/>
          </a:p>
          <a:p>
            <a:pPr marL="0" lvl="0" indent="0" algn="l" rtl="0">
              <a:spcBef>
                <a:spcPts val="1200"/>
              </a:spcBef>
              <a:spcAft>
                <a:spcPts val="0"/>
              </a:spcAft>
              <a:buNone/>
            </a:pPr>
            <a:endParaRPr/>
          </a:p>
        </p:txBody>
      </p:sp>
      <p:sp>
        <p:nvSpPr>
          <p:cNvPr id="196" name="Google Shape;19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a44b44c33f_2_5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100"/>
              <a:t>Scripts:s</a:t>
            </a:r>
            <a:r>
              <a:rPr lang="en-US" sz="1100" b="1"/>
              <a:t>lovakia: The Assembly Hub.</a:t>
            </a:r>
            <a:endParaRPr sz="1100" b="1"/>
          </a:p>
          <a:p>
            <a:pPr marL="914400" lvl="1" indent="-298450" algn="l" rtl="0">
              <a:lnSpc>
                <a:spcPct val="115000"/>
              </a:lnSpc>
              <a:spcBef>
                <a:spcPts val="0"/>
              </a:spcBef>
              <a:spcAft>
                <a:spcPts val="0"/>
              </a:spcAft>
              <a:buClr>
                <a:schemeClr val="dk1"/>
              </a:buClr>
              <a:buSzPts val="1100"/>
              <a:buChar char="○"/>
            </a:pPr>
            <a:r>
              <a:rPr lang="en-US" sz="1100"/>
              <a:t>Slovakia imports the most </a:t>
            </a:r>
            <a:r>
              <a:rPr lang="en-US" sz="1100" b="1"/>
              <a:t>Capital Goods</a:t>
            </a:r>
            <a:r>
              <a:rPr lang="en-US" sz="1100"/>
              <a:t> and </a:t>
            </a:r>
            <a:r>
              <a:rPr lang="en-US" sz="1100" b="1"/>
              <a:t>Intermediate Goods</a:t>
            </a:r>
            <a:r>
              <a:rPr lang="en-US" sz="1100"/>
              <a:t>. This means they buy a lot of machinery and parts from outside.</a:t>
            </a:r>
            <a:endParaRPr sz="1100"/>
          </a:p>
          <a:p>
            <a:pPr marL="914400" lvl="1" indent="-298450" algn="l" rtl="0">
              <a:lnSpc>
                <a:spcPct val="115000"/>
              </a:lnSpc>
              <a:spcBef>
                <a:spcPts val="0"/>
              </a:spcBef>
              <a:spcAft>
                <a:spcPts val="0"/>
              </a:spcAft>
              <a:buClr>
                <a:schemeClr val="dk1"/>
              </a:buClr>
              <a:buSzPts val="1100"/>
              <a:buChar char="○"/>
            </a:pPr>
            <a:r>
              <a:rPr lang="en-US" sz="1100"/>
              <a:t>Why? Because they are a huge </a:t>
            </a:r>
            <a:r>
              <a:rPr lang="en-US" sz="1100" b="1"/>
              <a:t>manufacturing hub</a:t>
            </a:r>
            <a:r>
              <a:rPr lang="en-US" sz="1100"/>
              <a:t>. They use all those imported parts to make finished </a:t>
            </a:r>
            <a:r>
              <a:rPr lang="en-US" sz="1100" b="1"/>
              <a:t>Consumer Goods</a:t>
            </a:r>
            <a:r>
              <a:rPr lang="en-US" sz="1100"/>
              <a:t>, which make up the largest share of their exports.They are dependent on imports for production, but they generate massive wealth through exports.</a:t>
            </a:r>
            <a:endParaRPr sz="1100"/>
          </a:p>
          <a:p>
            <a:pPr marL="0" lvl="0" indent="0" algn="l" rtl="0">
              <a:spcBef>
                <a:spcPts val="1200"/>
              </a:spcBef>
              <a:spcAft>
                <a:spcPts val="0"/>
              </a:spcAft>
              <a:buNone/>
            </a:pPr>
            <a:endParaRPr sz="1100"/>
          </a:p>
          <a:p>
            <a:pPr marL="0" lvl="0" indent="0" algn="l" rtl="0">
              <a:spcBef>
                <a:spcPts val="0"/>
              </a:spcBef>
              <a:spcAft>
                <a:spcPts val="0"/>
              </a:spcAft>
              <a:buNone/>
            </a:pPr>
            <a:endParaRPr sz="1100"/>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07" name="Google Shape;207;g3a44b44c33f_2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a44b44c33f_2_7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457200" lvl="0" indent="-298450" algn="l" rtl="0">
              <a:lnSpc>
                <a:spcPct val="115000"/>
              </a:lnSpc>
              <a:spcBef>
                <a:spcPts val="0"/>
              </a:spcBef>
              <a:spcAft>
                <a:spcPts val="0"/>
              </a:spcAft>
              <a:buClr>
                <a:schemeClr val="dk1"/>
              </a:buClr>
              <a:buSzPts val="1100"/>
              <a:buAutoNum type="arabicPeriod"/>
            </a:pPr>
            <a:r>
              <a:rPr lang="en-US" sz="1100" b="1"/>
              <a:t>Slovenia: The Balanced Producer.</a:t>
            </a:r>
            <a:endParaRPr sz="1100" b="1"/>
          </a:p>
          <a:p>
            <a:pPr marL="914400" lvl="1" indent="-298450" algn="l" rtl="0">
              <a:lnSpc>
                <a:spcPct val="115000"/>
              </a:lnSpc>
              <a:spcBef>
                <a:spcPts val="0"/>
              </a:spcBef>
              <a:spcAft>
                <a:spcPts val="0"/>
              </a:spcAft>
              <a:buClr>
                <a:schemeClr val="dk1"/>
              </a:buClr>
              <a:buSzPts val="1100"/>
              <a:buChar char="○"/>
            </a:pPr>
            <a:r>
              <a:rPr lang="en-US" sz="1100"/>
              <a:t>Slovenia is a </a:t>
            </a:r>
            <a:r>
              <a:rPr lang="en-US" sz="1100" b="1"/>
              <a:t>net exporter of finished goods</a:t>
            </a:r>
            <a:r>
              <a:rPr lang="en-US" sz="1100"/>
              <a:t>. They successfully sell more </a:t>
            </a:r>
            <a:r>
              <a:rPr lang="en-US" sz="1100" b="1"/>
              <a:t>Consumer Goods</a:t>
            </a:r>
            <a:r>
              <a:rPr lang="en-US" sz="1100"/>
              <a:t> and </a:t>
            </a:r>
            <a:r>
              <a:rPr lang="en-US" sz="1100" b="1"/>
              <a:t>Capital Goods</a:t>
            </a:r>
            <a:r>
              <a:rPr lang="en-US" sz="1100"/>
              <a:t> than they buy.</a:t>
            </a:r>
            <a:endParaRPr sz="1100"/>
          </a:p>
          <a:p>
            <a:pPr marL="914400" lvl="1" indent="-298450" algn="l" rtl="0">
              <a:lnSpc>
                <a:spcPct val="115000"/>
              </a:lnSpc>
              <a:spcBef>
                <a:spcPts val="0"/>
              </a:spcBef>
              <a:spcAft>
                <a:spcPts val="0"/>
              </a:spcAft>
              <a:buClr>
                <a:schemeClr val="dk1"/>
              </a:buClr>
              <a:buSzPts val="1100"/>
              <a:buChar char="○"/>
            </a:pPr>
            <a:r>
              <a:rPr lang="en-US" sz="1100"/>
              <a:t>But, just like Slovakia, they have a heavy reliance on imported </a:t>
            </a:r>
            <a:r>
              <a:rPr lang="en-US" sz="1100" b="1"/>
              <a:t>Raw Materials</a:t>
            </a:r>
            <a:r>
              <a:rPr lang="en-US" sz="1100"/>
              <a:t> and </a:t>
            </a:r>
            <a:r>
              <a:rPr lang="en-US" sz="1100" b="1"/>
              <a:t>Intermediate Goods</a:t>
            </a:r>
            <a:r>
              <a:rPr lang="en-US" sz="1100"/>
              <a:t>. They bring in basic materials to create high-value products. It’s a very common 'value-added' model.</a:t>
            </a:r>
            <a:endParaRPr sz="1100"/>
          </a:p>
          <a:p>
            <a:pPr marL="0" lvl="0" indent="0" algn="l" rtl="0">
              <a:spcBef>
                <a:spcPts val="1200"/>
              </a:spcBef>
              <a:spcAft>
                <a:spcPts val="0"/>
              </a:spcAft>
              <a:buNone/>
            </a:pPr>
            <a:endParaRPr sz="1100"/>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17" name="Google Shape;217;g3a44b44c33f_2_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sz="1100"/>
          </a:p>
          <a:p>
            <a:pPr marL="457200" lvl="0" indent="-298450" algn="l" rtl="0">
              <a:lnSpc>
                <a:spcPct val="115000"/>
              </a:lnSpc>
              <a:spcBef>
                <a:spcPts val="0"/>
              </a:spcBef>
              <a:spcAft>
                <a:spcPts val="0"/>
              </a:spcAft>
              <a:buClr>
                <a:schemeClr val="dk1"/>
              </a:buClr>
              <a:buSzPts val="1100"/>
              <a:buAutoNum type="arabicPeriod"/>
            </a:pPr>
            <a:r>
              <a:rPr lang="en-US" sz="1100" b="1"/>
              <a:t>Hungary: The Capital Goods Player.</a:t>
            </a:r>
            <a:endParaRPr sz="1100" b="1"/>
          </a:p>
          <a:p>
            <a:pPr marL="914400" lvl="1" indent="-298450" algn="l" rtl="0">
              <a:lnSpc>
                <a:spcPct val="115000"/>
              </a:lnSpc>
              <a:spcBef>
                <a:spcPts val="0"/>
              </a:spcBef>
              <a:spcAft>
                <a:spcPts val="0"/>
              </a:spcAft>
              <a:buClr>
                <a:schemeClr val="dk1"/>
              </a:buClr>
              <a:buSzPts val="1100"/>
              <a:buChar char="○"/>
            </a:pPr>
            <a:r>
              <a:rPr lang="en-US" sz="1100"/>
              <a:t>Hungary's trade is highly focused on </a:t>
            </a:r>
            <a:r>
              <a:rPr lang="en-US" sz="1100" b="1"/>
              <a:t>Capital Goods</a:t>
            </a:r>
            <a:r>
              <a:rPr lang="en-US" sz="1100"/>
              <a:t>—both in imports and exports. This shows they are deeply integrated into Europe's complex manufacturing and supply chains.</a:t>
            </a:r>
            <a:endParaRPr sz="1100"/>
          </a:p>
          <a:p>
            <a:pPr marL="914400" lvl="1" indent="-298450" algn="l" rtl="0">
              <a:lnSpc>
                <a:spcPct val="115000"/>
              </a:lnSpc>
              <a:spcBef>
                <a:spcPts val="0"/>
              </a:spcBef>
              <a:spcAft>
                <a:spcPts val="0"/>
              </a:spcAft>
              <a:buClr>
                <a:schemeClr val="dk1"/>
              </a:buClr>
              <a:buSzPts val="1100"/>
              <a:buChar char="○"/>
            </a:pPr>
            <a:r>
              <a:rPr lang="en-US" sz="1100"/>
              <a:t>Crucially, the data shows their imports of </a:t>
            </a:r>
            <a:r>
              <a:rPr lang="en-US" sz="1100" b="1"/>
              <a:t>Intermediate Goods</a:t>
            </a:r>
            <a:r>
              <a:rPr lang="en-US" sz="1100"/>
              <a:t> are higher than their exports. This tells us that Hungary relies on imported inputs to keep its production lines running.</a:t>
            </a:r>
            <a:endParaRPr sz="1100"/>
          </a:p>
          <a:p>
            <a:pPr marL="914400" lvl="1" indent="-298450" algn="l" rtl="0">
              <a:lnSpc>
                <a:spcPct val="115000"/>
              </a:lnSpc>
              <a:spcBef>
                <a:spcPts val="0"/>
              </a:spcBef>
              <a:spcAft>
                <a:spcPts val="0"/>
              </a:spcAft>
              <a:buClr>
                <a:schemeClr val="dk1"/>
              </a:buClr>
              <a:buSzPts val="1100"/>
              <a:buChar char="○"/>
            </a:pPr>
            <a:endParaRPr sz="1100"/>
          </a:p>
          <a:p>
            <a:pPr marL="0" lvl="0" indent="0" algn="l" rtl="0">
              <a:spcBef>
                <a:spcPts val="1200"/>
              </a:spcBef>
              <a:spcAft>
                <a:spcPts val="0"/>
              </a:spcAft>
              <a:buNone/>
            </a:pPr>
            <a:endParaRPr/>
          </a:p>
        </p:txBody>
      </p:sp>
      <p:sp>
        <p:nvSpPr>
          <p:cNvPr id="228" name="Google Shape;22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a44b44c33f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g3a44b44c33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a:t>In the economic literature, higher trade dependence is often associated with greater economic vulnerability due to the increased exposure to global disruptions.</a:t>
            </a:r>
            <a:endParaRPr/>
          </a:p>
          <a:p>
            <a:pPr marL="0" lvl="0" indent="0" algn="l" rtl="0">
              <a:lnSpc>
                <a:spcPct val="115000"/>
              </a:lnSpc>
              <a:spcBef>
                <a:spcPts val="1200"/>
              </a:spcBef>
              <a:spcAft>
                <a:spcPts val="0"/>
              </a:spcAft>
              <a:buClr>
                <a:schemeClr val="dk1"/>
              </a:buClr>
              <a:buSzPts val="1100"/>
              <a:buFont typeface="Arial"/>
              <a:buNone/>
            </a:pPr>
            <a:r>
              <a:rPr lang="en-US"/>
              <a:t>In today’s increasingly unstable global environment, understanding the sources and areas of regional and national economic vulnerability has become more critical than ever.</a:t>
            </a:r>
            <a:endParaRPr/>
          </a:p>
          <a:p>
            <a:pPr marL="0" lvl="0" indent="0" algn="l" rtl="0">
              <a:lnSpc>
                <a:spcPct val="115000"/>
              </a:lnSpc>
              <a:spcBef>
                <a:spcPts val="1200"/>
              </a:spcBef>
              <a:spcAft>
                <a:spcPts val="0"/>
              </a:spcAft>
              <a:buClr>
                <a:schemeClr val="dk1"/>
              </a:buClr>
              <a:buSzPts val="1100"/>
              <a:buFont typeface="Arial"/>
              <a:buNone/>
            </a:pPr>
            <a:r>
              <a:rPr lang="en-US"/>
              <a:t>Our findings shows Europe  to be the most economically vulnerable region in the world, with Hungary, Slovenia, and Slovakia being the most vulnerable countries within the region.</a:t>
            </a:r>
            <a:endParaRPr/>
          </a:p>
          <a:p>
            <a:pPr marL="0" lvl="0" indent="0" algn="l" rtl="0">
              <a:lnSpc>
                <a:spcPct val="115000"/>
              </a:lnSpc>
              <a:spcBef>
                <a:spcPts val="1200"/>
              </a:spcBef>
              <a:spcAft>
                <a:spcPts val="0"/>
              </a:spcAft>
              <a:buClr>
                <a:schemeClr val="dk1"/>
              </a:buClr>
              <a:buSzPts val="1100"/>
              <a:buFont typeface="Arial"/>
              <a:buNone/>
            </a:pPr>
            <a:r>
              <a:rPr lang="en-US"/>
              <a:t>For these three countries, the export sector is the primary area where risk of economic vulnerability lies.</a:t>
            </a:r>
            <a:endParaRPr/>
          </a:p>
          <a:p>
            <a:pPr marL="0" lvl="0" indent="0" algn="l" rtl="0">
              <a:lnSpc>
                <a:spcPct val="115000"/>
              </a:lnSpc>
              <a:spcBef>
                <a:spcPts val="1200"/>
              </a:spcBef>
              <a:spcAft>
                <a:spcPts val="0"/>
              </a:spcAft>
              <a:buClr>
                <a:schemeClr val="dk1"/>
              </a:buClr>
              <a:buSzPts val="1100"/>
              <a:buFont typeface="Arial"/>
              <a:buNone/>
            </a:pPr>
            <a:r>
              <a:rPr lang="en-US"/>
              <a:t>A deeper analysis of their industry categories reveals that Hungary being the least vulnerable among the three, owing to its more diversified export and import industry structure.</a:t>
            </a:r>
            <a:endParaRPr/>
          </a:p>
          <a:p>
            <a:pPr marL="0" lvl="0" indent="0" algn="l" rtl="0">
              <a:lnSpc>
                <a:spcPct val="115000"/>
              </a:lnSpc>
              <a:spcBef>
                <a:spcPts val="1200"/>
              </a:spcBef>
              <a:spcAft>
                <a:spcPts val="0"/>
              </a:spcAft>
              <a:buNone/>
            </a:pPr>
            <a:r>
              <a:rPr lang="en-US"/>
              <a:t>Therefore, European Trade Union should explore ways to diversify the industries involved in international trade activities at the national and regional levels.</a:t>
            </a:r>
            <a:endParaRPr/>
          </a:p>
          <a:p>
            <a:pPr marL="0" lvl="0" indent="0" algn="l" rtl="0">
              <a:lnSpc>
                <a:spcPct val="115000"/>
              </a:lnSpc>
              <a:spcBef>
                <a:spcPts val="1200"/>
              </a:spcBef>
              <a:spcAft>
                <a:spcPts val="1200"/>
              </a:spcAft>
              <a:buNone/>
            </a:pPr>
            <a:r>
              <a:rPr lang="en-US"/>
              <a:t>A recent debate has emerged after the pandemic on over whether higher trade dependence increases or decreases the risk of economic vulnerability, in which our research is not able to answer due to the limitation of our current dataset. </a:t>
            </a:r>
            <a:endParaRPr/>
          </a:p>
        </p:txBody>
      </p:sp>
      <p:sp>
        <p:nvSpPr>
          <p:cNvPr id="249" name="Google Shape;24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a44b44c33f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457200" lvl="0" indent="-317500" algn="l" rtl="0">
              <a:lnSpc>
                <a:spcPct val="115000"/>
              </a:lnSpc>
              <a:spcBef>
                <a:spcPts val="1200"/>
              </a:spcBef>
              <a:spcAft>
                <a:spcPts val="0"/>
              </a:spcAft>
              <a:buSzPts val="1400"/>
              <a:buAutoNum type="arabicPeriod"/>
            </a:pPr>
            <a:r>
              <a:rPr lang="en-US" sz="1100"/>
              <a:t>While our analysis provides valuable insights, we faced two key limitations. First, our </a:t>
            </a:r>
            <a:r>
              <a:rPr lang="en-US" sz="1100" b="1"/>
              <a:t>GDP dataset</a:t>
            </a:r>
            <a:r>
              <a:rPr lang="en-US" sz="1100"/>
              <a:t> currently contains only </a:t>
            </a:r>
            <a:r>
              <a:rPr lang="en-US" sz="1100" b="1"/>
              <a:t>one year</a:t>
            </a:r>
            <a:r>
              <a:rPr lang="en-US" sz="1100"/>
              <a:t> of data—specifically, 2020. Being the year most affected by the Covid-19 pandemic, this might not be indicative of the true trade and GDP figures. This prevents us from being able to studying historical patterns or making robust future predictions.</a:t>
            </a:r>
            <a:endParaRPr sz="1100"/>
          </a:p>
          <a:p>
            <a:pPr marL="457200" lvl="0" indent="-317500" algn="l" rtl="0">
              <a:lnSpc>
                <a:spcPct val="115000"/>
              </a:lnSpc>
              <a:spcBef>
                <a:spcPts val="0"/>
              </a:spcBef>
              <a:spcAft>
                <a:spcPts val="0"/>
              </a:spcAft>
              <a:buSzPts val="1400"/>
              <a:buAutoNum type="arabicPeriod"/>
            </a:pPr>
            <a:r>
              <a:rPr lang="en-US" sz="1100"/>
              <a:t>Second, the </a:t>
            </a:r>
            <a:r>
              <a:rPr lang="en-US" sz="1100" b="1"/>
              <a:t>import and export data</a:t>
            </a:r>
            <a:r>
              <a:rPr lang="en-US" sz="1100"/>
              <a:t> lacks information on the </a:t>
            </a:r>
            <a:r>
              <a:rPr lang="en-US" sz="1100" b="1"/>
              <a:t>origin and destination</a:t>
            </a:r>
            <a:r>
              <a:rPr lang="en-US" sz="1100"/>
              <a:t> of trade flows. Without this, we cannot fully map or explore a country’s </a:t>
            </a:r>
            <a:r>
              <a:rPr lang="en-US" sz="1100" b="1"/>
              <a:t>supply chain vulnerability</a:t>
            </a:r>
            <a:r>
              <a:rPr lang="en-US" sz="1100"/>
              <a:t>.</a:t>
            </a:r>
            <a:endParaRPr sz="1100"/>
          </a:p>
          <a:p>
            <a:pPr marL="0" lvl="0" indent="0" algn="l" rtl="0">
              <a:lnSpc>
                <a:spcPct val="115000"/>
              </a:lnSpc>
              <a:spcBef>
                <a:spcPts val="1200"/>
              </a:spcBef>
              <a:spcAft>
                <a:spcPts val="0"/>
              </a:spcAft>
              <a:buNone/>
            </a:pPr>
            <a:r>
              <a:rPr lang="en-US" sz="1100"/>
              <a:t>In our next study, we will look into data retrical with web scappring </a:t>
            </a:r>
            <a:endParaRPr sz="1100"/>
          </a:p>
          <a:p>
            <a:pPr marL="457200" lvl="0" indent="-298450" algn="l" rtl="0">
              <a:lnSpc>
                <a:spcPct val="115000"/>
              </a:lnSpc>
              <a:spcBef>
                <a:spcPts val="1200"/>
              </a:spcBef>
              <a:spcAft>
                <a:spcPts val="0"/>
              </a:spcAft>
              <a:buClr>
                <a:schemeClr val="dk1"/>
              </a:buClr>
              <a:buSzPts val="1100"/>
              <a:buAutoNum type="arabicPeriod"/>
            </a:pPr>
            <a:r>
              <a:rPr lang="en-US" sz="1100"/>
              <a:t>Investigate the </a:t>
            </a:r>
            <a:r>
              <a:rPr lang="en-US" sz="1100" b="1"/>
              <a:t>trend of trade dependency</a:t>
            </a:r>
            <a:r>
              <a:rPr lang="en-US" sz="1100"/>
              <a:t> across multiple years.</a:t>
            </a:r>
            <a:endParaRPr sz="1100"/>
          </a:p>
          <a:p>
            <a:pPr marL="457200" lvl="0" indent="-298450" algn="l" rtl="0">
              <a:lnSpc>
                <a:spcPct val="115000"/>
              </a:lnSpc>
              <a:spcBef>
                <a:spcPts val="0"/>
              </a:spcBef>
              <a:spcAft>
                <a:spcPts val="0"/>
              </a:spcAft>
              <a:buClr>
                <a:schemeClr val="dk1"/>
              </a:buClr>
              <a:buSzPts val="1100"/>
              <a:buAutoNum type="arabicPeriod"/>
            </a:pPr>
            <a:r>
              <a:rPr lang="en-US" sz="1100"/>
              <a:t>Analyze the impact of </a:t>
            </a:r>
            <a:r>
              <a:rPr lang="en-US" sz="1100" b="1"/>
              <a:t>global supply chain disruptions</a:t>
            </a:r>
            <a:r>
              <a:rPr lang="en-US" sz="1100"/>
              <a:t>.</a:t>
            </a:r>
            <a:endParaRPr sz="1100"/>
          </a:p>
          <a:p>
            <a:pPr marL="457200" lvl="0" indent="-298450" algn="l" rtl="0">
              <a:lnSpc>
                <a:spcPct val="115000"/>
              </a:lnSpc>
              <a:spcBef>
                <a:spcPts val="0"/>
              </a:spcBef>
              <a:spcAft>
                <a:spcPts val="0"/>
              </a:spcAft>
              <a:buClr>
                <a:schemeClr val="dk1"/>
              </a:buClr>
              <a:buSzPts val="1100"/>
              <a:buAutoNum type="arabicPeriod"/>
            </a:pPr>
            <a:r>
              <a:rPr lang="en-US" sz="1100"/>
              <a:t>Provide deeper insights into effective </a:t>
            </a:r>
            <a:r>
              <a:rPr lang="en-US" sz="1100" b="1"/>
              <a:t>economic resilience strategies</a:t>
            </a:r>
            <a:r>
              <a:rPr lang="en-US" sz="1100"/>
              <a:t>.</a:t>
            </a:r>
            <a:endParaRPr sz="1100"/>
          </a:p>
          <a:p>
            <a:pPr marL="0" lvl="0" indent="0" algn="l" rtl="0">
              <a:lnSpc>
                <a:spcPct val="115000"/>
              </a:lnSpc>
              <a:spcBef>
                <a:spcPts val="1200"/>
              </a:spcBef>
              <a:spcAft>
                <a:spcPts val="0"/>
              </a:spcAft>
              <a:buNone/>
            </a:pPr>
            <a:endParaRPr sz="1100"/>
          </a:p>
          <a:p>
            <a:pPr marL="0" lvl="0" indent="0" algn="l" rtl="0">
              <a:spcBef>
                <a:spcPts val="1200"/>
              </a:spcBef>
              <a:spcAft>
                <a:spcPts val="0"/>
              </a:spcAft>
              <a:buNone/>
            </a:pPr>
            <a:endParaRPr/>
          </a:p>
        </p:txBody>
      </p:sp>
      <p:sp>
        <p:nvSpPr>
          <p:cNvPr id="268" name="Google Shape;268;g3a44b44c33f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endParaRPr sz="1100"/>
          </a:p>
          <a:p>
            <a:pPr marL="0" lvl="0" indent="0" algn="l" rtl="0">
              <a:lnSpc>
                <a:spcPct val="115000"/>
              </a:lnSpc>
              <a:spcBef>
                <a:spcPts val="1200"/>
              </a:spcBef>
              <a:spcAft>
                <a:spcPts val="1200"/>
              </a:spcAft>
              <a:buClr>
                <a:schemeClr val="dk1"/>
              </a:buClr>
              <a:buSzPts val="1100"/>
              <a:buFont typeface="Arial"/>
              <a:buNone/>
            </a:pPr>
            <a:r>
              <a:rPr lang="en-US" sz="1100"/>
              <a:t>To enrich our study, our future plan focuses on </a:t>
            </a:r>
            <a:r>
              <a:rPr lang="en-US" sz="1100" b="1"/>
              <a:t>Web Scraping and API retrieval</a:t>
            </a:r>
            <a:r>
              <a:rPr lang="en-US" sz="1100"/>
              <a:t>. We will use Python’s </a:t>
            </a:r>
            <a:r>
              <a:rPr lang="en-US" sz="1100">
                <a:solidFill>
                  <a:srgbClr val="188038"/>
                </a:solidFill>
                <a:latin typeface="Roboto Mono"/>
                <a:ea typeface="Roboto Mono"/>
                <a:cs typeface="Roboto Mono"/>
                <a:sym typeface="Roboto Mono"/>
              </a:rPr>
              <a:t>requests</a:t>
            </a:r>
            <a:r>
              <a:rPr lang="en-US" sz="1100"/>
              <a:t> library to fetch comprehensive </a:t>
            </a:r>
            <a:r>
              <a:rPr lang="en-US" sz="1100" b="1"/>
              <a:t>GDP time-series data</a:t>
            </a:r>
            <a:r>
              <a:rPr lang="en-US" sz="1100"/>
              <a:t> from the </a:t>
            </a:r>
            <a:r>
              <a:rPr lang="en-US" sz="1100" b="1"/>
              <a:t>World Bank API</a:t>
            </a:r>
            <a:r>
              <a:rPr lang="en-US" sz="1100"/>
              <a:t> . This expanded dataset will allow us to:</a:t>
            </a:r>
            <a:endParaRPr/>
          </a:p>
        </p:txBody>
      </p:sp>
      <p:sp>
        <p:nvSpPr>
          <p:cNvPr id="276" name="Google Shape;2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a47451f361_5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t>This project highlights Europe’s significant trading patters, with Slovenia, Slovakia, and Hungary as the most trade-dependent countries within Europe. (in some cases close to 200% of the countries GDP)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Insights into the trade dependencies of these nations are illustrated by analyzing import and export values across key goods categories.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Although limitations in available data prevented a detailed assessment on trade over time, the approach outlined provides a foundation for future research using time-series datasets. These findings can support European trade policymakers in crafting strategies that enhance trade resilience, identifying key areas of economic vulnerability and foster sustainable economic growth.</a:t>
            </a:r>
            <a:endParaRPr/>
          </a:p>
          <a:p>
            <a:pPr marL="0" lvl="0" indent="0" algn="l" rtl="0">
              <a:spcBef>
                <a:spcPts val="0"/>
              </a:spcBef>
              <a:spcAft>
                <a:spcPts val="0"/>
              </a:spcAft>
              <a:buNone/>
            </a:pPr>
            <a:endParaRPr/>
          </a:p>
        </p:txBody>
      </p:sp>
      <p:sp>
        <p:nvSpPr>
          <p:cNvPr id="309" name="Google Shape;309;g3a47451f361_5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a44b44c33f_0_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g3a44b44c33f_0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a47451f361_5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3a47451f361_5_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g3a47451f361_5_1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1"/>
        <p:cNvGrpSpPr/>
        <p:nvPr/>
      </p:nvGrpSpPr>
      <p:grpSpPr>
        <a:xfrm>
          <a:off x="0" y="0"/>
          <a:ext cx="0" cy="0"/>
          <a:chOff x="0" y="0"/>
          <a:chExt cx="0" cy="0"/>
        </a:xfrm>
      </p:grpSpPr>
      <p:sp>
        <p:nvSpPr>
          <p:cNvPr id="22" name="Google Shape;22;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4" name="Google Shape;24;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5" name="Google Shape;2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
        <p:cNvGrpSpPr/>
        <p:nvPr/>
      </p:nvGrpSpPr>
      <p:grpSpPr>
        <a:xfrm>
          <a:off x="0" y="0"/>
          <a:ext cx="0" cy="0"/>
          <a:chOff x="0" y="0"/>
          <a:chExt cx="0" cy="0"/>
        </a:xfrm>
      </p:grpSpPr>
      <p:sp>
        <p:nvSpPr>
          <p:cNvPr id="40" name="Google Shape;40;p2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2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42" name="Google Shape;42;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
        <p:cNvGrpSpPr/>
        <p:nvPr/>
      </p:nvGrpSpPr>
      <p:grpSpPr>
        <a:xfrm>
          <a:off x="0" y="0"/>
          <a:ext cx="0" cy="0"/>
          <a:chOff x="0" y="0"/>
          <a:chExt cx="0" cy="0"/>
        </a:xfrm>
      </p:grpSpPr>
      <p:sp>
        <p:nvSpPr>
          <p:cNvPr id="46" name="Google Shape;46;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3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3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5" name="Google Shape;55;p3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3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3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2"/>
          <p:cNvSpPr>
            <a:spLocks noGrp="1"/>
          </p:cNvSpPr>
          <p:nvPr>
            <p:ph type="pic" idx="2"/>
          </p:nvPr>
        </p:nvSpPr>
        <p:spPr>
          <a:xfrm>
            <a:off x="5183188" y="987425"/>
            <a:ext cx="6172200" cy="4873625"/>
          </a:xfrm>
          <a:prstGeom prst="rect">
            <a:avLst/>
          </a:prstGeom>
          <a:noFill/>
          <a:ln>
            <a:noFill/>
          </a:ln>
        </p:spPr>
      </p:sp>
      <p:sp>
        <p:nvSpPr>
          <p:cNvPr id="68" name="Google Shape;68;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comments" Target="../comments/commen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hyperlink" Target="https://www.wto.org/english/res_e/booksp_e/wtr21_e/01_c_wtr21_e.pdf" TargetMode="External"/><Relationship Id="rId3" Type="http://schemas.openxmlformats.org/officeDocument/2006/relationships/hyperlink" Target="https://www.europeangeneration.eu/single-post/the-european-union-s-trade-policy-amid-rising-global-protectionism" TargetMode="External"/><Relationship Id="rId7" Type="http://schemas.openxmlformats.org/officeDocument/2006/relationships/hyperlink" Target="https://unctad.org/system/files/official-document/osg2022d1_en.pdf" TargetMode="External"/><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hyperlink" Target="https://www.oecd.org/en/publications/2025/09/economic-security-in-a-changing-world_78f3b129/full-report/economic-security-and-vulnerabilities-in-international-supply-chains_dc88aefa.html" TargetMode="External"/><Relationship Id="rId5" Type="http://schemas.openxmlformats.org/officeDocument/2006/relationships/hyperlink" Target="https://www.oecd.org/content/dam/oecd/en/publications/reports/2022/03/international-trade-during-the-covid-19-pandemic-big-shifts-and-uncertainty_33e349d3/d1131663-en.pdf" TargetMode="External"/><Relationship Id="rId4" Type="http://schemas.openxmlformats.org/officeDocument/2006/relationships/hyperlink" Target="https://cepr.org/voxeu/columns/understanding-impact-covid-19-supply-disruptions-exporters-global-value-chains"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0" name="Google Shape;90;p1"/>
          <p:cNvSpPr/>
          <p:nvPr/>
        </p:nvSpPr>
        <p:spPr>
          <a:xfrm rot="10800000">
            <a:off x="-2" y="-22693"/>
            <a:ext cx="12191999" cy="4374129"/>
          </a:xfrm>
          <a:prstGeom prst="rect">
            <a:avLst/>
          </a:prstGeom>
          <a:gradFill>
            <a:gsLst>
              <a:gs pos="0">
                <a:srgbClr val="0F4861"/>
              </a:gs>
              <a:gs pos="100000">
                <a:srgbClr val="000000"/>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1" name="Google Shape;91;p1"/>
          <p:cNvSpPr/>
          <p:nvPr/>
        </p:nvSpPr>
        <p:spPr>
          <a:xfrm rot="5400000">
            <a:off x="3908719" y="-3931841"/>
            <a:ext cx="4374557" cy="12192000"/>
          </a:xfrm>
          <a:prstGeom prst="rect">
            <a:avLst/>
          </a:prstGeom>
          <a:gradFill>
            <a:gsLst>
              <a:gs pos="0">
                <a:srgbClr val="156082">
                  <a:alpha val="0"/>
                </a:srgbClr>
              </a:gs>
              <a:gs pos="40000">
                <a:srgbClr val="156082">
                  <a:alpha val="0"/>
                </a:srgbClr>
              </a:gs>
              <a:gs pos="100000">
                <a:srgbClr val="0F4861">
                  <a:alpha val="51764"/>
                </a:srgbClr>
              </a:gs>
            </a:gsLst>
            <a:lin ang="2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2" name="Google Shape;92;p1"/>
          <p:cNvSpPr/>
          <p:nvPr/>
        </p:nvSpPr>
        <p:spPr>
          <a:xfrm rot="5400000">
            <a:off x="4136696" y="-3703868"/>
            <a:ext cx="4374128" cy="11736479"/>
          </a:xfrm>
          <a:prstGeom prst="rect">
            <a:avLst/>
          </a:prstGeom>
          <a:gradFill>
            <a:gsLst>
              <a:gs pos="0">
                <a:srgbClr val="156082">
                  <a:alpha val="0"/>
                </a:srgbClr>
              </a:gs>
              <a:gs pos="17000">
                <a:srgbClr val="156082">
                  <a:alpha val="0"/>
                </a:srgbClr>
              </a:gs>
              <a:gs pos="100000">
                <a:srgbClr val="000000">
                  <a:alpha val="36862"/>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3" name="Google Shape;93;p1"/>
          <p:cNvSpPr/>
          <p:nvPr/>
        </p:nvSpPr>
        <p:spPr>
          <a:xfrm>
            <a:off x="-5" y="-22690"/>
            <a:ext cx="8542485" cy="4374126"/>
          </a:xfrm>
          <a:prstGeom prst="rect">
            <a:avLst/>
          </a:prstGeom>
          <a:gradFill>
            <a:gsLst>
              <a:gs pos="0">
                <a:srgbClr val="0A3041">
                  <a:alpha val="0"/>
                </a:srgbClr>
              </a:gs>
              <a:gs pos="100000">
                <a:srgbClr val="000000">
                  <a:alpha val="24705"/>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4" name="Google Shape;94;p1"/>
          <p:cNvSpPr/>
          <p:nvPr/>
        </p:nvSpPr>
        <p:spPr>
          <a:xfrm rot="-9091028">
            <a:off x="5945431" y="-1032053"/>
            <a:ext cx="4990147" cy="4439131"/>
          </a:xfrm>
          <a:custGeom>
            <a:avLst/>
            <a:gdLst/>
            <a:ahLst/>
            <a:cxnLst/>
            <a:rect l="l" t="t" r="r" b="b"/>
            <a:pathLst>
              <a:path w="4990147" h="4439131" extrusionOk="0">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rgbClr val="156082">
                  <a:alpha val="21960"/>
                </a:srgbClr>
              </a:gs>
              <a:gs pos="87000">
                <a:srgbClr val="43AFE2">
                  <a:alpha val="1960"/>
                </a:srgbClr>
              </a:gs>
              <a:gs pos="100000">
                <a:srgbClr val="43AFE2">
                  <a:alpha val="196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95" name="Google Shape;95;p1"/>
          <p:cNvSpPr txBox="1">
            <a:spLocks noGrp="1"/>
          </p:cNvSpPr>
          <p:nvPr>
            <p:ph type="ctrTitle"/>
          </p:nvPr>
        </p:nvSpPr>
        <p:spPr>
          <a:xfrm>
            <a:off x="721899" y="735100"/>
            <a:ext cx="10646700" cy="29286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FFFF"/>
              </a:buClr>
              <a:buSzPts val="4800"/>
              <a:buFont typeface="Play"/>
              <a:buNone/>
            </a:pPr>
            <a:r>
              <a:rPr lang="en-US" sz="4800" b="1">
                <a:solidFill>
                  <a:srgbClr val="FFFFFF"/>
                </a:solidFill>
              </a:rPr>
              <a:t>Assessing Economic Vulnerability with Trade Dependency</a:t>
            </a:r>
            <a:endParaRPr b="1"/>
          </a:p>
        </p:txBody>
      </p:sp>
      <p:sp>
        <p:nvSpPr>
          <p:cNvPr id="96" name="Google Shape;96;p1"/>
          <p:cNvSpPr txBox="1">
            <a:spLocks noGrp="1"/>
          </p:cNvSpPr>
          <p:nvPr>
            <p:ph type="subTitle" idx="1"/>
          </p:nvPr>
        </p:nvSpPr>
        <p:spPr>
          <a:xfrm>
            <a:off x="1576800" y="4727800"/>
            <a:ext cx="9038400" cy="1458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240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0"/>
        <p:cNvGrpSpPr/>
        <p:nvPr/>
      </p:nvGrpSpPr>
      <p:grpSpPr>
        <a:xfrm>
          <a:off x="0" y="0"/>
          <a:ext cx="0" cy="0"/>
          <a:chOff x="0" y="0"/>
          <a:chExt cx="0" cy="0"/>
        </a:xfrm>
      </p:grpSpPr>
      <p:sp>
        <p:nvSpPr>
          <p:cNvPr id="101" name="Google Shape;101;p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2" name="Google Shape;102;p3"/>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Font typeface="Arial"/>
              <a:buNone/>
            </a:pPr>
            <a:endParaRPr sz="1800" b="0" i="0" u="none" strike="noStrike" cap="none">
              <a:solidFill>
                <a:schemeClr val="lt1"/>
              </a:solidFill>
              <a:latin typeface="Arial"/>
              <a:ea typeface="Arial"/>
              <a:cs typeface="Arial"/>
              <a:sym typeface="Arial"/>
            </a:endParaRPr>
          </a:p>
        </p:txBody>
      </p:sp>
      <p:sp>
        <p:nvSpPr>
          <p:cNvPr id="103" name="Google Shape;103;p3"/>
          <p:cNvSpPr/>
          <p:nvPr/>
        </p:nvSpPr>
        <p:spPr>
          <a:xfrm rot="5400000" flipH="1">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4" name="Google Shape;104;p3"/>
          <p:cNvSpPr/>
          <p:nvPr/>
        </p:nvSpPr>
        <p:spPr>
          <a:xfrm rot="5400000" flipH="1">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5" name="Google Shape;105;p3"/>
          <p:cNvSpPr/>
          <p:nvPr/>
        </p:nvSpPr>
        <p:spPr>
          <a:xfrm rot="5400000" flipH="1">
            <a:off x="767923" y="3588085"/>
            <a:ext cx="2501979" cy="4037841"/>
          </a:xfrm>
          <a:prstGeom prst="rect">
            <a:avLst/>
          </a:prstGeom>
          <a:gradFill>
            <a:gsLst>
              <a:gs pos="0">
                <a:srgbClr val="156082">
                  <a:alpha val="28627"/>
                </a:srgbClr>
              </a:gs>
              <a:gs pos="2000">
                <a:srgbClr val="156082">
                  <a:alpha val="28627"/>
                </a:srgbClr>
              </a:gs>
              <a:gs pos="100000">
                <a:srgbClr val="000000">
                  <a:alpha val="29803"/>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6" name="Google Shape;106;p3"/>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2745"/>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7" name="Google Shape;107;p3"/>
          <p:cNvSpPr/>
          <p:nvPr/>
        </p:nvSpPr>
        <p:spPr>
          <a:xfrm rot="5400000" flipH="1">
            <a:off x="-1410093" y="1399943"/>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08" name="Google Shape;108;p3"/>
          <p:cNvSpPr txBox="1">
            <a:spLocks noGrp="1"/>
          </p:cNvSpPr>
          <p:nvPr>
            <p:ph type="title"/>
          </p:nvPr>
        </p:nvSpPr>
        <p:spPr>
          <a:xfrm>
            <a:off x="466722" y="586855"/>
            <a:ext cx="3201366" cy="338749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FFFFFF"/>
              </a:buClr>
              <a:buSzPts val="4000"/>
              <a:buFont typeface="Play"/>
              <a:buNone/>
            </a:pPr>
            <a:r>
              <a:rPr lang="en-US" sz="4000">
                <a:solidFill>
                  <a:srgbClr val="FFFFFF"/>
                </a:solidFill>
              </a:rPr>
              <a:t>Objectives</a:t>
            </a:r>
            <a:endParaRPr/>
          </a:p>
        </p:txBody>
      </p:sp>
      <p:sp>
        <p:nvSpPr>
          <p:cNvPr id="109" name="Google Shape;109;p3"/>
          <p:cNvSpPr txBox="1"/>
          <p:nvPr/>
        </p:nvSpPr>
        <p:spPr>
          <a:xfrm>
            <a:off x="4314225" y="2028300"/>
            <a:ext cx="7308600" cy="2124000"/>
          </a:xfrm>
          <a:prstGeom prst="rect">
            <a:avLst/>
          </a:prstGeom>
          <a:noFill/>
          <a:ln>
            <a:noFill/>
          </a:ln>
        </p:spPr>
        <p:txBody>
          <a:bodyPr spcFirstLastPara="1" wrap="square" lIns="91425" tIns="45700" rIns="91425" bIns="45700" anchor="t" anchorCtr="0">
            <a:spAutoFit/>
          </a:bodyPr>
          <a:lstStyle/>
          <a:p>
            <a:pPr marL="457200" marR="0" lvl="0" indent="-368300" algn="l" rtl="0">
              <a:spcBef>
                <a:spcPts val="0"/>
              </a:spcBef>
              <a:spcAft>
                <a:spcPts val="0"/>
              </a:spcAft>
              <a:buClr>
                <a:schemeClr val="dk1"/>
              </a:buClr>
              <a:buSzPts val="2200"/>
              <a:buAutoNum type="arabicPeriod"/>
            </a:pPr>
            <a:r>
              <a:rPr lang="en-US" sz="2200">
                <a:solidFill>
                  <a:schemeClr val="dk1"/>
                </a:solidFill>
              </a:rPr>
              <a:t>Analyse trade dependencies across regions and countries</a:t>
            </a:r>
            <a:endParaRPr sz="2200">
              <a:solidFill>
                <a:schemeClr val="dk1"/>
              </a:solidFill>
            </a:endParaRPr>
          </a:p>
          <a:p>
            <a:pPr marL="0" marR="0" lvl="0" indent="0" algn="l" rtl="0">
              <a:spcBef>
                <a:spcPts val="0"/>
              </a:spcBef>
              <a:spcAft>
                <a:spcPts val="0"/>
              </a:spcAft>
              <a:buNone/>
            </a:pPr>
            <a:endParaRPr sz="2200">
              <a:solidFill>
                <a:schemeClr val="dk1"/>
              </a:solidFill>
            </a:endParaRPr>
          </a:p>
          <a:p>
            <a:pPr marL="457200" marR="0" lvl="0" indent="-368300" algn="l" rtl="0">
              <a:spcBef>
                <a:spcPts val="0"/>
              </a:spcBef>
              <a:spcAft>
                <a:spcPts val="0"/>
              </a:spcAft>
              <a:buClr>
                <a:schemeClr val="dk1"/>
              </a:buClr>
              <a:buSzPts val="2200"/>
              <a:buAutoNum type="arabicPeriod"/>
            </a:pPr>
            <a:r>
              <a:rPr lang="en-US" sz="2200">
                <a:solidFill>
                  <a:schemeClr val="dk1"/>
                </a:solidFill>
              </a:rPr>
              <a:t>Identify import and export dependencies</a:t>
            </a:r>
            <a:endParaRPr sz="2200">
              <a:solidFill>
                <a:schemeClr val="dk1"/>
              </a:solidFill>
            </a:endParaRPr>
          </a:p>
          <a:p>
            <a:pPr marL="0" marR="0" lvl="0" indent="0" algn="l" rtl="0">
              <a:spcBef>
                <a:spcPts val="0"/>
              </a:spcBef>
              <a:spcAft>
                <a:spcPts val="0"/>
              </a:spcAft>
              <a:buNone/>
            </a:pPr>
            <a:endParaRPr sz="2200">
              <a:solidFill>
                <a:schemeClr val="dk1"/>
              </a:solidFill>
            </a:endParaRPr>
          </a:p>
          <a:p>
            <a:pPr marL="457200" marR="0" lvl="0" indent="-368300" algn="l" rtl="0">
              <a:spcBef>
                <a:spcPts val="0"/>
              </a:spcBef>
              <a:spcAft>
                <a:spcPts val="0"/>
              </a:spcAft>
              <a:buClr>
                <a:schemeClr val="dk1"/>
              </a:buClr>
              <a:buSzPts val="2200"/>
              <a:buAutoNum type="arabicPeriod"/>
            </a:pPr>
            <a:r>
              <a:rPr lang="en-US" sz="2200">
                <a:solidFill>
                  <a:schemeClr val="dk1"/>
                </a:solidFill>
              </a:rPr>
              <a:t>Examine areas of economic vulnerability </a:t>
            </a:r>
            <a:endParaRPr sz="22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Data sourcing, auditing and wrangling</a:t>
            </a:r>
            <a:endParaRPr/>
          </a:p>
        </p:txBody>
      </p:sp>
      <p:sp>
        <p:nvSpPr>
          <p:cNvPr id="115" name="Google Shape;115;p4"/>
          <p:cNvSpPr txBox="1">
            <a:spLocks noGrp="1"/>
          </p:cNvSpPr>
          <p:nvPr>
            <p:ph type="body" idx="1"/>
          </p:nvPr>
        </p:nvSpPr>
        <p:spPr>
          <a:xfrm>
            <a:off x="838200" y="1517550"/>
            <a:ext cx="3061500" cy="2312700"/>
          </a:xfrm>
          <a:prstGeom prst="rect">
            <a:avLst/>
          </a:prstGeom>
          <a:noFill/>
          <a:ln>
            <a:noFill/>
          </a:ln>
        </p:spPr>
        <p:txBody>
          <a:bodyPr spcFirstLastPara="1" wrap="square" lIns="91425" tIns="45700" rIns="91425" bIns="45700" anchor="t" anchorCtr="0">
            <a:noAutofit/>
          </a:bodyPr>
          <a:lstStyle/>
          <a:p>
            <a:pPr marL="0" lvl="0" indent="0" algn="ctr" rtl="0">
              <a:lnSpc>
                <a:spcPct val="115000"/>
              </a:lnSpc>
              <a:spcBef>
                <a:spcPts val="0"/>
              </a:spcBef>
              <a:spcAft>
                <a:spcPts val="0"/>
              </a:spcAft>
              <a:buNone/>
            </a:pPr>
            <a:r>
              <a:rPr lang="en-US" sz="1450" b="1"/>
              <a:t>GDP (2020)</a:t>
            </a:r>
            <a:endParaRPr sz="1450"/>
          </a:p>
          <a:p>
            <a:pPr marL="0" lvl="0" indent="0" algn="ctr" rtl="0">
              <a:lnSpc>
                <a:spcPct val="115000"/>
              </a:lnSpc>
              <a:spcBef>
                <a:spcPts val="1000"/>
              </a:spcBef>
              <a:spcAft>
                <a:spcPts val="0"/>
              </a:spcAft>
              <a:buNone/>
            </a:pPr>
            <a:r>
              <a:rPr lang="en-US" sz="1450" u="sng"/>
              <a:t>World Bank Open Data</a:t>
            </a:r>
            <a:endParaRPr sz="1450" u="sng"/>
          </a:p>
          <a:p>
            <a:pPr marL="457200" lvl="0" indent="-320675" algn="l" rtl="0">
              <a:lnSpc>
                <a:spcPct val="115000"/>
              </a:lnSpc>
              <a:spcBef>
                <a:spcPts val="1000"/>
              </a:spcBef>
              <a:spcAft>
                <a:spcPts val="0"/>
              </a:spcAft>
              <a:buSzPts val="1450"/>
              <a:buChar char="•"/>
            </a:pPr>
            <a:r>
              <a:rPr lang="en-US" sz="1450"/>
              <a:t>Removed irrelevant columns</a:t>
            </a:r>
            <a:endParaRPr sz="1450"/>
          </a:p>
          <a:p>
            <a:pPr marL="457200" lvl="0" indent="-320675" algn="l" rtl="0">
              <a:lnSpc>
                <a:spcPct val="115000"/>
              </a:lnSpc>
              <a:spcBef>
                <a:spcPts val="0"/>
              </a:spcBef>
              <a:spcAft>
                <a:spcPts val="0"/>
              </a:spcAft>
              <a:buSzPts val="1450"/>
              <a:buChar char="•"/>
            </a:pPr>
            <a:r>
              <a:rPr lang="en-US" sz="1450"/>
              <a:t>Standardise units</a:t>
            </a:r>
            <a:endParaRPr sz="1450"/>
          </a:p>
          <a:p>
            <a:pPr marL="457200" lvl="0" indent="-320675" algn="l" rtl="0">
              <a:lnSpc>
                <a:spcPct val="115000"/>
              </a:lnSpc>
              <a:spcBef>
                <a:spcPts val="0"/>
              </a:spcBef>
              <a:spcAft>
                <a:spcPts val="0"/>
              </a:spcAft>
              <a:buSzPts val="1450"/>
              <a:buChar char="•"/>
            </a:pPr>
            <a:r>
              <a:rPr lang="en-US" sz="1450"/>
              <a:t>Assign country codes</a:t>
            </a:r>
            <a:endParaRPr sz="1450"/>
          </a:p>
          <a:p>
            <a:pPr marL="457200" lvl="0" indent="-320675" algn="l" rtl="0">
              <a:lnSpc>
                <a:spcPct val="115000"/>
              </a:lnSpc>
              <a:spcBef>
                <a:spcPts val="0"/>
              </a:spcBef>
              <a:spcAft>
                <a:spcPts val="0"/>
              </a:spcAft>
              <a:buSzPts val="1450"/>
              <a:buChar char="•"/>
            </a:pPr>
            <a:r>
              <a:rPr lang="en-US" sz="1450"/>
              <a:t>Wrangle Population</a:t>
            </a:r>
            <a:endParaRPr sz="1450"/>
          </a:p>
          <a:p>
            <a:pPr marL="0" lvl="0" indent="0" algn="ctr" rtl="0">
              <a:lnSpc>
                <a:spcPct val="115000"/>
              </a:lnSpc>
              <a:spcBef>
                <a:spcPts val="1000"/>
              </a:spcBef>
              <a:spcAft>
                <a:spcPts val="0"/>
              </a:spcAft>
              <a:buNone/>
            </a:pPr>
            <a:endParaRPr sz="1450"/>
          </a:p>
          <a:p>
            <a:pPr marL="0" lvl="0" indent="0" algn="l" rtl="0">
              <a:lnSpc>
                <a:spcPct val="115000"/>
              </a:lnSpc>
              <a:spcBef>
                <a:spcPts val="1000"/>
              </a:spcBef>
              <a:spcAft>
                <a:spcPts val="0"/>
              </a:spcAft>
              <a:buNone/>
            </a:pPr>
            <a:endParaRPr sz="1450"/>
          </a:p>
          <a:p>
            <a:pPr marL="0" lvl="0" indent="0" algn="l" rtl="0">
              <a:lnSpc>
                <a:spcPct val="115000"/>
              </a:lnSpc>
              <a:spcBef>
                <a:spcPts val="1000"/>
              </a:spcBef>
              <a:spcAft>
                <a:spcPts val="0"/>
              </a:spcAft>
              <a:buNone/>
            </a:pPr>
            <a:endParaRPr sz="1450"/>
          </a:p>
          <a:p>
            <a:pPr marL="0" lvl="0" indent="0" algn="l" rtl="0">
              <a:lnSpc>
                <a:spcPct val="115000"/>
              </a:lnSpc>
              <a:spcBef>
                <a:spcPts val="1000"/>
              </a:spcBef>
              <a:spcAft>
                <a:spcPts val="0"/>
              </a:spcAft>
              <a:buNone/>
            </a:pPr>
            <a:endParaRPr sz="1450"/>
          </a:p>
        </p:txBody>
      </p:sp>
      <p:sp>
        <p:nvSpPr>
          <p:cNvPr id="116" name="Google Shape;116;p4"/>
          <p:cNvSpPr txBox="1">
            <a:spLocks noGrp="1"/>
          </p:cNvSpPr>
          <p:nvPr>
            <p:ph type="body" idx="1"/>
          </p:nvPr>
        </p:nvSpPr>
        <p:spPr>
          <a:xfrm>
            <a:off x="4434150" y="1528800"/>
            <a:ext cx="3228900" cy="2370900"/>
          </a:xfrm>
          <a:prstGeom prst="rect">
            <a:avLst/>
          </a:prstGeom>
          <a:noFill/>
          <a:ln>
            <a:noFill/>
          </a:ln>
        </p:spPr>
        <p:txBody>
          <a:bodyPr spcFirstLastPara="1" wrap="square" lIns="91425" tIns="45700" rIns="91425" bIns="45700" anchor="t" anchorCtr="0">
            <a:noAutofit/>
          </a:bodyPr>
          <a:lstStyle/>
          <a:p>
            <a:pPr marL="0" lvl="0" indent="0" algn="ctr" rtl="0">
              <a:lnSpc>
                <a:spcPct val="115000"/>
              </a:lnSpc>
              <a:spcBef>
                <a:spcPts val="1000"/>
              </a:spcBef>
              <a:spcAft>
                <a:spcPts val="0"/>
              </a:spcAft>
              <a:buNone/>
            </a:pPr>
            <a:r>
              <a:rPr lang="en-US" sz="1450" b="1"/>
              <a:t>Trade Data (2005-2023)</a:t>
            </a:r>
            <a:endParaRPr sz="1450"/>
          </a:p>
          <a:p>
            <a:pPr marL="0" lvl="0" indent="0" algn="ctr" rtl="0">
              <a:lnSpc>
                <a:spcPct val="115000"/>
              </a:lnSpc>
              <a:spcBef>
                <a:spcPts val="1000"/>
              </a:spcBef>
              <a:spcAft>
                <a:spcPts val="0"/>
              </a:spcAft>
              <a:buNone/>
            </a:pPr>
            <a:r>
              <a:rPr lang="en-US" sz="1450" u="sng"/>
              <a:t>UN Comtrade</a:t>
            </a:r>
            <a:endParaRPr sz="1450" u="sng"/>
          </a:p>
          <a:p>
            <a:pPr marL="457200" lvl="0" indent="-320675" algn="l" rtl="0">
              <a:lnSpc>
                <a:spcPct val="115000"/>
              </a:lnSpc>
              <a:spcBef>
                <a:spcPts val="1000"/>
              </a:spcBef>
              <a:spcAft>
                <a:spcPts val="0"/>
              </a:spcAft>
              <a:buSzPts val="1450"/>
              <a:buChar char="•"/>
            </a:pPr>
            <a:r>
              <a:rPr lang="en-US" sz="1450"/>
              <a:t>Removed irrelevant columns</a:t>
            </a:r>
            <a:endParaRPr sz="1450"/>
          </a:p>
          <a:p>
            <a:pPr marL="457200" lvl="0" indent="-320675" algn="l" rtl="0">
              <a:lnSpc>
                <a:spcPct val="115000"/>
              </a:lnSpc>
              <a:spcBef>
                <a:spcPts val="0"/>
              </a:spcBef>
              <a:spcAft>
                <a:spcPts val="0"/>
              </a:spcAft>
              <a:buSzPts val="1450"/>
              <a:buChar char="•"/>
            </a:pPr>
            <a:r>
              <a:rPr lang="en-US" sz="1450"/>
              <a:t>Standardise import &amp; export</a:t>
            </a:r>
            <a:endParaRPr sz="1450"/>
          </a:p>
          <a:p>
            <a:pPr marL="457200" lvl="0" indent="-320675" algn="l" rtl="0">
              <a:lnSpc>
                <a:spcPct val="115000"/>
              </a:lnSpc>
              <a:spcBef>
                <a:spcPts val="0"/>
              </a:spcBef>
              <a:spcAft>
                <a:spcPts val="0"/>
              </a:spcAft>
              <a:buSzPts val="1450"/>
              <a:buChar char="•"/>
            </a:pPr>
            <a:r>
              <a:rPr lang="en-US" sz="1450"/>
              <a:t>Pivot into wide format</a:t>
            </a:r>
            <a:endParaRPr sz="1450"/>
          </a:p>
          <a:p>
            <a:pPr marL="457200" lvl="0" indent="-320675" algn="l" rtl="0">
              <a:lnSpc>
                <a:spcPct val="115000"/>
              </a:lnSpc>
              <a:spcBef>
                <a:spcPts val="0"/>
              </a:spcBef>
              <a:spcAft>
                <a:spcPts val="0"/>
              </a:spcAft>
              <a:buSzPts val="1450"/>
              <a:buChar char="•"/>
            </a:pPr>
            <a:r>
              <a:rPr lang="en-US" sz="1450"/>
              <a:t>Wrangle ‘Total Trade’ and ‘Trade Balance’</a:t>
            </a:r>
            <a:endParaRPr sz="1450"/>
          </a:p>
          <a:p>
            <a:pPr marL="457200" lvl="0" indent="-320675" algn="l" rtl="0">
              <a:lnSpc>
                <a:spcPct val="115000"/>
              </a:lnSpc>
              <a:spcBef>
                <a:spcPts val="0"/>
              </a:spcBef>
              <a:spcAft>
                <a:spcPts val="0"/>
              </a:spcAft>
              <a:buSzPts val="1450"/>
              <a:buChar char="•"/>
            </a:pPr>
            <a:r>
              <a:rPr lang="en-US" sz="1450"/>
              <a:t>Assign country codes</a:t>
            </a:r>
            <a:endParaRPr sz="1450"/>
          </a:p>
          <a:p>
            <a:pPr marL="0" lvl="0" indent="0" algn="l" rtl="0">
              <a:lnSpc>
                <a:spcPct val="115000"/>
              </a:lnSpc>
              <a:spcBef>
                <a:spcPts val="500"/>
              </a:spcBef>
              <a:spcAft>
                <a:spcPts val="0"/>
              </a:spcAft>
              <a:buNone/>
            </a:pPr>
            <a:endParaRPr sz="1800"/>
          </a:p>
          <a:p>
            <a:pPr marL="0" lvl="0" indent="0" algn="l" rtl="0">
              <a:lnSpc>
                <a:spcPct val="90000"/>
              </a:lnSpc>
              <a:spcBef>
                <a:spcPts val="1000"/>
              </a:spcBef>
              <a:spcAft>
                <a:spcPts val="0"/>
              </a:spcAft>
              <a:buClr>
                <a:schemeClr val="dk1"/>
              </a:buClr>
              <a:buSzPts val="2800"/>
              <a:buNone/>
            </a:pPr>
            <a:endParaRPr sz="1800"/>
          </a:p>
        </p:txBody>
      </p:sp>
      <p:sp>
        <p:nvSpPr>
          <p:cNvPr id="117" name="Google Shape;117;p4"/>
          <p:cNvSpPr txBox="1">
            <a:spLocks noGrp="1"/>
          </p:cNvSpPr>
          <p:nvPr>
            <p:ph type="body" idx="1"/>
          </p:nvPr>
        </p:nvSpPr>
        <p:spPr>
          <a:xfrm>
            <a:off x="8197500" y="1528800"/>
            <a:ext cx="3156300" cy="1866600"/>
          </a:xfrm>
          <a:prstGeom prst="rect">
            <a:avLst/>
          </a:prstGeom>
          <a:noFill/>
          <a:ln>
            <a:noFill/>
          </a:ln>
        </p:spPr>
        <p:txBody>
          <a:bodyPr spcFirstLastPara="1" wrap="square" lIns="91425" tIns="45700" rIns="91425" bIns="45700" anchor="t" anchorCtr="0">
            <a:noAutofit/>
          </a:bodyPr>
          <a:lstStyle/>
          <a:p>
            <a:pPr marL="0" lvl="0" indent="0" algn="ctr" rtl="0">
              <a:lnSpc>
                <a:spcPct val="115000"/>
              </a:lnSpc>
              <a:spcBef>
                <a:spcPts val="1000"/>
              </a:spcBef>
              <a:spcAft>
                <a:spcPts val="0"/>
              </a:spcAft>
              <a:buNone/>
            </a:pPr>
            <a:r>
              <a:rPr lang="en-US" sz="1450" b="1"/>
              <a:t>Trade Categories (2005-2023)</a:t>
            </a:r>
            <a:endParaRPr sz="1450" b="1"/>
          </a:p>
          <a:p>
            <a:pPr marL="0" lvl="0" indent="0" algn="ctr" rtl="0">
              <a:lnSpc>
                <a:spcPct val="115000"/>
              </a:lnSpc>
              <a:spcBef>
                <a:spcPts val="1000"/>
              </a:spcBef>
              <a:spcAft>
                <a:spcPts val="0"/>
              </a:spcAft>
              <a:buNone/>
            </a:pPr>
            <a:r>
              <a:rPr lang="en-US" sz="1450" u="sng"/>
              <a:t>World Integrated Trade Solution </a:t>
            </a:r>
            <a:endParaRPr sz="1450" u="sng"/>
          </a:p>
          <a:p>
            <a:pPr marL="457200" lvl="0" indent="-320675" algn="l" rtl="0">
              <a:lnSpc>
                <a:spcPct val="115000"/>
              </a:lnSpc>
              <a:spcBef>
                <a:spcPts val="1000"/>
              </a:spcBef>
              <a:spcAft>
                <a:spcPts val="0"/>
              </a:spcAft>
              <a:buSzPts val="1450"/>
              <a:buChar char="•"/>
            </a:pPr>
            <a:r>
              <a:rPr lang="en-US" sz="1450"/>
              <a:t>Select top 3 countries from Question 1</a:t>
            </a:r>
            <a:endParaRPr sz="1450"/>
          </a:p>
          <a:p>
            <a:pPr marL="457200" lvl="0" indent="-320675" algn="l" rtl="0">
              <a:lnSpc>
                <a:spcPct val="115000"/>
              </a:lnSpc>
              <a:spcBef>
                <a:spcPts val="0"/>
              </a:spcBef>
              <a:spcAft>
                <a:spcPts val="0"/>
              </a:spcAft>
              <a:buSzPts val="1450"/>
              <a:buChar char="•"/>
            </a:pPr>
            <a:r>
              <a:rPr lang="en-US" sz="1450"/>
              <a:t>Extract trade categories and import/export values</a:t>
            </a:r>
            <a:endParaRPr sz="1450"/>
          </a:p>
          <a:p>
            <a:pPr marL="0" lvl="0" indent="0" algn="l" rtl="0">
              <a:lnSpc>
                <a:spcPct val="90000"/>
              </a:lnSpc>
              <a:spcBef>
                <a:spcPts val="1000"/>
              </a:spcBef>
              <a:spcAft>
                <a:spcPts val="0"/>
              </a:spcAft>
              <a:buNone/>
            </a:pPr>
            <a:endParaRPr sz="1800"/>
          </a:p>
        </p:txBody>
      </p:sp>
      <p:sp>
        <p:nvSpPr>
          <p:cNvPr id="118" name="Google Shape;118;p4"/>
          <p:cNvSpPr/>
          <p:nvPr/>
        </p:nvSpPr>
        <p:spPr>
          <a:xfrm>
            <a:off x="1399650" y="4460025"/>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Country</a:t>
            </a:r>
            <a:endParaRPr sz="1223"/>
          </a:p>
        </p:txBody>
      </p:sp>
      <p:sp>
        <p:nvSpPr>
          <p:cNvPr id="119" name="Google Shape;119;p4"/>
          <p:cNvSpPr/>
          <p:nvPr/>
        </p:nvSpPr>
        <p:spPr>
          <a:xfrm>
            <a:off x="1399650" y="5067095"/>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Region</a:t>
            </a:r>
            <a:endParaRPr sz="1223"/>
          </a:p>
        </p:txBody>
      </p:sp>
      <p:sp>
        <p:nvSpPr>
          <p:cNvPr id="120" name="Google Shape;120;p4"/>
          <p:cNvSpPr/>
          <p:nvPr/>
        </p:nvSpPr>
        <p:spPr>
          <a:xfrm>
            <a:off x="1399650" y="4763560"/>
            <a:ext cx="1938600" cy="303600"/>
          </a:xfrm>
          <a:prstGeom prst="rect">
            <a:avLst/>
          </a:prstGeom>
          <a:solidFill>
            <a:srgbClr val="D9EAD3"/>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Country_Code</a:t>
            </a:r>
            <a:endParaRPr sz="1223"/>
          </a:p>
        </p:txBody>
      </p:sp>
      <p:sp>
        <p:nvSpPr>
          <p:cNvPr id="121" name="Google Shape;121;p4"/>
          <p:cNvSpPr/>
          <p:nvPr/>
        </p:nvSpPr>
        <p:spPr>
          <a:xfrm>
            <a:off x="5079300" y="4460013"/>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Country</a:t>
            </a:r>
            <a:endParaRPr sz="1223"/>
          </a:p>
        </p:txBody>
      </p:sp>
      <p:sp>
        <p:nvSpPr>
          <p:cNvPr id="122" name="Google Shape;122;p4"/>
          <p:cNvSpPr/>
          <p:nvPr/>
        </p:nvSpPr>
        <p:spPr>
          <a:xfrm>
            <a:off x="5079300" y="5067083"/>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Year</a:t>
            </a:r>
            <a:endParaRPr sz="1223"/>
          </a:p>
        </p:txBody>
      </p:sp>
      <p:sp>
        <p:nvSpPr>
          <p:cNvPr id="123" name="Google Shape;123;p4"/>
          <p:cNvSpPr/>
          <p:nvPr/>
        </p:nvSpPr>
        <p:spPr>
          <a:xfrm>
            <a:off x="5079300" y="5370618"/>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Export Value </a:t>
            </a:r>
            <a:r>
              <a:rPr lang="en-US" sz="1223">
                <a:solidFill>
                  <a:schemeClr val="dk1"/>
                </a:solidFill>
              </a:rPr>
              <a:t>($USD)</a:t>
            </a:r>
            <a:endParaRPr sz="1223"/>
          </a:p>
        </p:txBody>
      </p:sp>
      <p:sp>
        <p:nvSpPr>
          <p:cNvPr id="124" name="Google Shape;124;p4"/>
          <p:cNvSpPr/>
          <p:nvPr/>
        </p:nvSpPr>
        <p:spPr>
          <a:xfrm>
            <a:off x="5079300" y="5674153"/>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Import Value </a:t>
            </a:r>
            <a:r>
              <a:rPr lang="en-US" sz="1223">
                <a:solidFill>
                  <a:schemeClr val="dk1"/>
                </a:solidFill>
              </a:rPr>
              <a:t>($USD)</a:t>
            </a:r>
            <a:endParaRPr sz="1223"/>
          </a:p>
        </p:txBody>
      </p:sp>
      <p:sp>
        <p:nvSpPr>
          <p:cNvPr id="125" name="Google Shape;125;p4"/>
          <p:cNvSpPr/>
          <p:nvPr/>
        </p:nvSpPr>
        <p:spPr>
          <a:xfrm>
            <a:off x="5079300" y="4763548"/>
            <a:ext cx="1938600" cy="303600"/>
          </a:xfrm>
          <a:prstGeom prst="rect">
            <a:avLst/>
          </a:prstGeom>
          <a:solidFill>
            <a:srgbClr val="D9EAD3"/>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Country_Code</a:t>
            </a:r>
            <a:endParaRPr sz="1223"/>
          </a:p>
        </p:txBody>
      </p:sp>
      <p:sp>
        <p:nvSpPr>
          <p:cNvPr id="126" name="Google Shape;126;p4"/>
          <p:cNvSpPr/>
          <p:nvPr/>
        </p:nvSpPr>
        <p:spPr>
          <a:xfrm>
            <a:off x="5079300" y="5977678"/>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Total Trade </a:t>
            </a:r>
            <a:r>
              <a:rPr lang="en-US" sz="1223">
                <a:solidFill>
                  <a:schemeClr val="dk1"/>
                </a:solidFill>
              </a:rPr>
              <a:t>($USD)</a:t>
            </a:r>
            <a:endParaRPr sz="1223"/>
          </a:p>
        </p:txBody>
      </p:sp>
      <p:sp>
        <p:nvSpPr>
          <p:cNvPr id="127" name="Google Shape;127;p4"/>
          <p:cNvSpPr/>
          <p:nvPr/>
        </p:nvSpPr>
        <p:spPr>
          <a:xfrm>
            <a:off x="5079300" y="6281228"/>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Trade Balance </a:t>
            </a:r>
            <a:r>
              <a:rPr lang="en-US" sz="1223">
                <a:solidFill>
                  <a:schemeClr val="dk1"/>
                </a:solidFill>
              </a:rPr>
              <a:t>($USD)</a:t>
            </a:r>
            <a:endParaRPr sz="1223"/>
          </a:p>
        </p:txBody>
      </p:sp>
      <p:sp>
        <p:nvSpPr>
          <p:cNvPr id="128" name="Google Shape;128;p4"/>
          <p:cNvSpPr/>
          <p:nvPr/>
        </p:nvSpPr>
        <p:spPr>
          <a:xfrm>
            <a:off x="8782800" y="4459913"/>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Country</a:t>
            </a:r>
            <a:endParaRPr sz="1223"/>
          </a:p>
        </p:txBody>
      </p:sp>
      <p:sp>
        <p:nvSpPr>
          <p:cNvPr id="129" name="Google Shape;129;p4"/>
          <p:cNvSpPr/>
          <p:nvPr/>
        </p:nvSpPr>
        <p:spPr>
          <a:xfrm>
            <a:off x="8782800" y="5066983"/>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Product Category</a:t>
            </a:r>
            <a:endParaRPr sz="1223"/>
          </a:p>
        </p:txBody>
      </p:sp>
      <p:sp>
        <p:nvSpPr>
          <p:cNvPr id="130" name="Google Shape;130;p4"/>
          <p:cNvSpPr/>
          <p:nvPr/>
        </p:nvSpPr>
        <p:spPr>
          <a:xfrm>
            <a:off x="8782800" y="4763448"/>
            <a:ext cx="1938600" cy="303600"/>
          </a:xfrm>
          <a:prstGeom prst="rect">
            <a:avLst/>
          </a:prstGeom>
          <a:solidFill>
            <a:srgbClr val="D9EAD3"/>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Country_Code</a:t>
            </a:r>
            <a:endParaRPr sz="1223"/>
          </a:p>
        </p:txBody>
      </p:sp>
      <p:sp>
        <p:nvSpPr>
          <p:cNvPr id="131" name="Google Shape;131;p4"/>
          <p:cNvSpPr/>
          <p:nvPr/>
        </p:nvSpPr>
        <p:spPr>
          <a:xfrm>
            <a:off x="8782800" y="5370593"/>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Export Value </a:t>
            </a:r>
            <a:r>
              <a:rPr lang="en-US" sz="1223">
                <a:solidFill>
                  <a:schemeClr val="dk1"/>
                </a:solidFill>
              </a:rPr>
              <a:t>($USD)</a:t>
            </a:r>
            <a:endParaRPr sz="1223"/>
          </a:p>
        </p:txBody>
      </p:sp>
      <p:sp>
        <p:nvSpPr>
          <p:cNvPr id="132" name="Google Shape;132;p4"/>
          <p:cNvSpPr/>
          <p:nvPr/>
        </p:nvSpPr>
        <p:spPr>
          <a:xfrm>
            <a:off x="8782800" y="5674128"/>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Import Value </a:t>
            </a:r>
            <a:r>
              <a:rPr lang="en-US" sz="1223">
                <a:solidFill>
                  <a:schemeClr val="dk1"/>
                </a:solidFill>
              </a:rPr>
              <a:t>($USD)</a:t>
            </a:r>
            <a:endParaRPr sz="1223"/>
          </a:p>
        </p:txBody>
      </p:sp>
      <p:cxnSp>
        <p:nvCxnSpPr>
          <p:cNvPr id="133" name="Google Shape;133;p4"/>
          <p:cNvCxnSpPr>
            <a:stCxn id="120" idx="3"/>
          </p:cNvCxnSpPr>
          <p:nvPr/>
        </p:nvCxnSpPr>
        <p:spPr>
          <a:xfrm>
            <a:off x="3338250" y="4915360"/>
            <a:ext cx="1741200" cy="0"/>
          </a:xfrm>
          <a:prstGeom prst="straightConnector1">
            <a:avLst/>
          </a:prstGeom>
          <a:noFill/>
          <a:ln w="9525" cap="flat" cmpd="sng">
            <a:solidFill>
              <a:schemeClr val="dk2"/>
            </a:solidFill>
            <a:prstDash val="solid"/>
            <a:round/>
            <a:headEnd type="stealth" w="med" len="med"/>
            <a:tailEnd type="stealth" w="med" len="med"/>
          </a:ln>
        </p:spPr>
      </p:cxnSp>
      <p:sp>
        <p:nvSpPr>
          <p:cNvPr id="134" name="Google Shape;134;p4"/>
          <p:cNvSpPr/>
          <p:nvPr/>
        </p:nvSpPr>
        <p:spPr>
          <a:xfrm>
            <a:off x="1399650" y="5370690"/>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Population</a:t>
            </a:r>
            <a:endParaRPr sz="1223"/>
          </a:p>
        </p:txBody>
      </p:sp>
      <p:sp>
        <p:nvSpPr>
          <p:cNvPr id="135" name="Google Shape;135;p4"/>
          <p:cNvSpPr/>
          <p:nvPr/>
        </p:nvSpPr>
        <p:spPr>
          <a:xfrm>
            <a:off x="1399650" y="5674180"/>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GDP ($USD)</a:t>
            </a:r>
            <a:endParaRPr sz="1223"/>
          </a:p>
        </p:txBody>
      </p:sp>
      <p:sp>
        <p:nvSpPr>
          <p:cNvPr id="136" name="Google Shape;136;p4"/>
          <p:cNvSpPr/>
          <p:nvPr/>
        </p:nvSpPr>
        <p:spPr>
          <a:xfrm>
            <a:off x="1399650" y="5977715"/>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GDP per capita </a:t>
            </a:r>
            <a:r>
              <a:rPr lang="en-US" sz="1223">
                <a:solidFill>
                  <a:schemeClr val="dk1"/>
                </a:solidFill>
              </a:rPr>
              <a:t>($USD)</a:t>
            </a:r>
            <a:endParaRPr sz="1223"/>
          </a:p>
        </p:txBody>
      </p:sp>
      <p:cxnSp>
        <p:nvCxnSpPr>
          <p:cNvPr id="137" name="Google Shape;137;p4"/>
          <p:cNvCxnSpPr/>
          <p:nvPr/>
        </p:nvCxnSpPr>
        <p:spPr>
          <a:xfrm>
            <a:off x="7017900" y="4915260"/>
            <a:ext cx="1741200" cy="0"/>
          </a:xfrm>
          <a:prstGeom prst="straightConnector1">
            <a:avLst/>
          </a:prstGeom>
          <a:noFill/>
          <a:ln w="9525" cap="flat" cmpd="sng">
            <a:solidFill>
              <a:schemeClr val="dk2"/>
            </a:solidFill>
            <a:prstDash val="solid"/>
            <a:round/>
            <a:headEnd type="stealth" w="med" len="med"/>
            <a:tailEnd type="stealth" w="med" len="med"/>
          </a:ln>
        </p:spPr>
      </p:cxnSp>
      <p:sp>
        <p:nvSpPr>
          <p:cNvPr id="138" name="Google Shape;138;p4"/>
          <p:cNvSpPr/>
          <p:nvPr/>
        </p:nvSpPr>
        <p:spPr>
          <a:xfrm>
            <a:off x="2875500" y="4175463"/>
            <a:ext cx="6346200" cy="1325700"/>
          </a:xfrm>
          <a:prstGeom prst="rect">
            <a:avLst/>
          </a:prstGeom>
          <a:solidFill>
            <a:srgbClr val="D9EAD3"/>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5000" b="1"/>
              <a:t>Country_Code</a:t>
            </a:r>
            <a:endParaRPr sz="50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38"/>
                                        </p:tgtEl>
                                        <p:attrNameLst>
                                          <p:attrName>style.visibility</p:attrName>
                                        </p:attrNameLst>
                                      </p:cBhvr>
                                      <p:to>
                                        <p:strVal val="visible"/>
                                      </p:to>
                                    </p:set>
                                    <p:anim calcmode="lin" valueType="num">
                                      <p:cBhvr additive="base">
                                        <p:cTn id="7" dur="500"/>
                                        <p:tgtEl>
                                          <p:spTgt spid="138"/>
                                        </p:tgtEl>
                                        <p:attrNameLst>
                                          <p:attrName>ppt_w</p:attrName>
                                        </p:attrNameLst>
                                      </p:cBhvr>
                                      <p:tavLst>
                                        <p:tav tm="0">
                                          <p:val>
                                            <p:strVal val="0"/>
                                          </p:val>
                                        </p:tav>
                                        <p:tav tm="100000">
                                          <p:val>
                                            <p:strVal val="#ppt_w"/>
                                          </p:val>
                                        </p:tav>
                                      </p:tavLst>
                                    </p:anim>
                                    <p:anim calcmode="lin" valueType="num">
                                      <p:cBhvr additive="base">
                                        <p:cTn id="8" dur="500"/>
                                        <p:tgtEl>
                                          <p:spTgt spid="13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
        <p:cNvGrpSpPr/>
        <p:nvPr/>
      </p:nvGrpSpPr>
      <p:grpSpPr>
        <a:xfrm>
          <a:off x="0" y="0"/>
          <a:ext cx="0" cy="0"/>
          <a:chOff x="0" y="0"/>
          <a:chExt cx="0" cy="0"/>
        </a:xfrm>
      </p:grpSpPr>
      <p:sp>
        <p:nvSpPr>
          <p:cNvPr id="144" name="Google Shape;144;p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5" name="Google Shape;145;p5"/>
          <p:cNvSpPr/>
          <p:nvPr/>
        </p:nvSpPr>
        <p:spPr>
          <a:xfrm rot="10800000">
            <a:off x="-2" y="-22693"/>
            <a:ext cx="12191999" cy="4374129"/>
          </a:xfrm>
          <a:prstGeom prst="rect">
            <a:avLst/>
          </a:prstGeom>
          <a:gradFill>
            <a:gsLst>
              <a:gs pos="0">
                <a:srgbClr val="0F4861"/>
              </a:gs>
              <a:gs pos="100000">
                <a:srgbClr val="000000"/>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6" name="Google Shape;146;p5"/>
          <p:cNvSpPr/>
          <p:nvPr/>
        </p:nvSpPr>
        <p:spPr>
          <a:xfrm rot="5400000">
            <a:off x="3908719" y="-3931841"/>
            <a:ext cx="4374557" cy="12192000"/>
          </a:xfrm>
          <a:prstGeom prst="rect">
            <a:avLst/>
          </a:prstGeom>
          <a:gradFill>
            <a:gsLst>
              <a:gs pos="0">
                <a:srgbClr val="156082">
                  <a:alpha val="0"/>
                </a:srgbClr>
              </a:gs>
              <a:gs pos="40000">
                <a:srgbClr val="156082">
                  <a:alpha val="0"/>
                </a:srgbClr>
              </a:gs>
              <a:gs pos="100000">
                <a:srgbClr val="0F4861">
                  <a:alpha val="51764"/>
                </a:srgbClr>
              </a:gs>
            </a:gsLst>
            <a:lin ang="2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7" name="Google Shape;147;p5"/>
          <p:cNvSpPr/>
          <p:nvPr/>
        </p:nvSpPr>
        <p:spPr>
          <a:xfrm rot="5400000">
            <a:off x="4136696" y="-3703868"/>
            <a:ext cx="4374128" cy="11736479"/>
          </a:xfrm>
          <a:prstGeom prst="rect">
            <a:avLst/>
          </a:prstGeom>
          <a:gradFill>
            <a:gsLst>
              <a:gs pos="0">
                <a:srgbClr val="156082">
                  <a:alpha val="0"/>
                </a:srgbClr>
              </a:gs>
              <a:gs pos="17000">
                <a:srgbClr val="156082">
                  <a:alpha val="0"/>
                </a:srgbClr>
              </a:gs>
              <a:gs pos="100000">
                <a:srgbClr val="000000">
                  <a:alpha val="36862"/>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8" name="Google Shape;148;p5"/>
          <p:cNvSpPr/>
          <p:nvPr/>
        </p:nvSpPr>
        <p:spPr>
          <a:xfrm>
            <a:off x="-5" y="-22690"/>
            <a:ext cx="8542485" cy="4374126"/>
          </a:xfrm>
          <a:prstGeom prst="rect">
            <a:avLst/>
          </a:prstGeom>
          <a:gradFill>
            <a:gsLst>
              <a:gs pos="0">
                <a:srgbClr val="0A3041">
                  <a:alpha val="0"/>
                </a:srgbClr>
              </a:gs>
              <a:gs pos="100000">
                <a:srgbClr val="000000">
                  <a:alpha val="24705"/>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9" name="Google Shape;149;p5"/>
          <p:cNvSpPr/>
          <p:nvPr/>
        </p:nvSpPr>
        <p:spPr>
          <a:xfrm rot="-9091028">
            <a:off x="5945431" y="-1032053"/>
            <a:ext cx="4990147" cy="4439131"/>
          </a:xfrm>
          <a:custGeom>
            <a:avLst/>
            <a:gdLst/>
            <a:ahLst/>
            <a:cxnLst/>
            <a:rect l="l" t="t" r="r" b="b"/>
            <a:pathLst>
              <a:path w="4990147" h="4439131" extrusionOk="0">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rgbClr val="156082">
                  <a:alpha val="21960"/>
                </a:srgbClr>
              </a:gs>
              <a:gs pos="87000">
                <a:srgbClr val="43AFE2">
                  <a:alpha val="1960"/>
                </a:srgbClr>
              </a:gs>
              <a:gs pos="100000">
                <a:srgbClr val="43AFE2">
                  <a:alpha val="196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0" name="Google Shape;150;p5"/>
          <p:cNvSpPr txBox="1">
            <a:spLocks noGrp="1"/>
          </p:cNvSpPr>
          <p:nvPr>
            <p:ph type="title"/>
          </p:nvPr>
        </p:nvSpPr>
        <p:spPr>
          <a:xfrm>
            <a:off x="455525" y="813550"/>
            <a:ext cx="11520000" cy="29286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4800"/>
              <a:buFont typeface="Play"/>
              <a:buNone/>
            </a:pPr>
            <a:r>
              <a:rPr lang="en-US" sz="4800">
                <a:solidFill>
                  <a:schemeClr val="lt1"/>
                </a:solidFill>
              </a:rPr>
              <a:t>Which Region and Countries are the </a:t>
            </a:r>
            <a:endParaRPr sz="4800">
              <a:solidFill>
                <a:schemeClr val="lt1"/>
              </a:solidFill>
            </a:endParaRPr>
          </a:p>
          <a:p>
            <a:pPr marL="0" lvl="0" indent="0" algn="l" rtl="0">
              <a:lnSpc>
                <a:spcPct val="90000"/>
              </a:lnSpc>
              <a:spcBef>
                <a:spcPts val="0"/>
              </a:spcBef>
              <a:spcAft>
                <a:spcPts val="0"/>
              </a:spcAft>
              <a:buClr>
                <a:schemeClr val="lt1"/>
              </a:buClr>
              <a:buSzPts val="4800"/>
              <a:buFont typeface="Play"/>
              <a:buNone/>
            </a:pPr>
            <a:r>
              <a:rPr lang="en-US" sz="4800">
                <a:solidFill>
                  <a:schemeClr val="lt1"/>
                </a:solidFill>
              </a:rPr>
              <a:t>Most Trade Dependent?</a:t>
            </a:r>
            <a:endParaRPr sz="48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6"/>
          <p:cNvSpPr txBox="1">
            <a:spLocks noGrp="1"/>
          </p:cNvSpPr>
          <p:nvPr>
            <p:ph type="title"/>
          </p:nvPr>
        </p:nvSpPr>
        <p:spPr>
          <a:xfrm>
            <a:off x="342757" y="342700"/>
            <a:ext cx="10502700" cy="1053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960"/>
              <a:buFont typeface="Play"/>
              <a:buNone/>
            </a:pPr>
            <a:r>
              <a:rPr lang="en-US" sz="4000"/>
              <a:t>Which region is the most trade-dependent?</a:t>
            </a:r>
            <a:endParaRPr sz="6260"/>
          </a:p>
        </p:txBody>
      </p:sp>
      <p:sp>
        <p:nvSpPr>
          <p:cNvPr id="156" name="Google Shape;156;p6"/>
          <p:cNvSpPr txBox="1"/>
          <p:nvPr/>
        </p:nvSpPr>
        <p:spPr>
          <a:xfrm>
            <a:off x="6942161" y="2207400"/>
            <a:ext cx="4617600" cy="24432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None/>
            </a:pPr>
            <a:r>
              <a:rPr lang="en-US" sz="2200" b="1">
                <a:solidFill>
                  <a:schemeClr val="dk1"/>
                </a:solidFill>
              </a:rPr>
              <a:t>Key Insights</a:t>
            </a:r>
            <a:endParaRPr sz="2000" b="1">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a:solidFill>
                  <a:schemeClr val="dk1"/>
                </a:solidFill>
              </a:rPr>
              <a:t>Europe is the most trade-dependent region </a:t>
            </a:r>
            <a:endParaRPr sz="2200">
              <a:solidFill>
                <a:schemeClr val="dk1"/>
              </a:solidFill>
            </a:endParaRPr>
          </a:p>
          <a:p>
            <a:pPr marL="0" lvl="0" indent="0" algn="l" rtl="0">
              <a:lnSpc>
                <a:spcPct val="115000"/>
              </a:lnSpc>
              <a:spcBef>
                <a:spcPts val="0"/>
              </a:spcBef>
              <a:spcAft>
                <a:spcPts val="0"/>
              </a:spcAft>
              <a:buNone/>
            </a:pP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a:solidFill>
                  <a:schemeClr val="dk1"/>
                </a:solidFill>
              </a:rPr>
              <a:t>Other regions show lower reliance on international trade</a:t>
            </a:r>
            <a:endParaRPr sz="2200">
              <a:solidFill>
                <a:schemeClr val="dk1"/>
              </a:solidFill>
            </a:endParaRPr>
          </a:p>
        </p:txBody>
      </p:sp>
      <p:grpSp>
        <p:nvGrpSpPr>
          <p:cNvPr id="157" name="Google Shape;157;p6"/>
          <p:cNvGrpSpPr/>
          <p:nvPr/>
        </p:nvGrpSpPr>
        <p:grpSpPr>
          <a:xfrm>
            <a:off x="359025" y="3101825"/>
            <a:ext cx="6208400" cy="3363600"/>
            <a:chOff x="359025" y="3101825"/>
            <a:chExt cx="6208400" cy="3363600"/>
          </a:xfrm>
        </p:grpSpPr>
        <p:pic>
          <p:nvPicPr>
            <p:cNvPr id="158" name="Google Shape;158;p6"/>
            <p:cNvPicPr preferRelativeResize="0"/>
            <p:nvPr/>
          </p:nvPicPr>
          <p:blipFill>
            <a:blip r:embed="rId3">
              <a:alphaModFix/>
            </a:blip>
            <a:stretch>
              <a:fillRect/>
            </a:stretch>
          </p:blipFill>
          <p:spPr>
            <a:xfrm>
              <a:off x="359025" y="3101825"/>
              <a:ext cx="6208400" cy="3363600"/>
            </a:xfrm>
            <a:prstGeom prst="rect">
              <a:avLst/>
            </a:prstGeom>
            <a:noFill/>
            <a:ln>
              <a:noFill/>
            </a:ln>
          </p:spPr>
        </p:pic>
        <p:sp>
          <p:nvSpPr>
            <p:cNvPr id="159" name="Google Shape;159;p6"/>
            <p:cNvSpPr/>
            <p:nvPr/>
          </p:nvSpPr>
          <p:spPr>
            <a:xfrm>
              <a:off x="1105275" y="3468825"/>
              <a:ext cx="907800" cy="2578500"/>
            </a:xfrm>
            <a:prstGeom prst="rect">
              <a:avLst/>
            </a:prstGeom>
            <a:solidFill>
              <a:srgbClr val="00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highlight>
                  <a:srgbClr val="00FFFF"/>
                </a:highlight>
              </a:endParaRPr>
            </a:p>
          </p:txBody>
        </p:sp>
      </p:grpSp>
      <p:sp>
        <p:nvSpPr>
          <p:cNvPr id="160" name="Google Shape;160;p6"/>
          <p:cNvSpPr txBox="1"/>
          <p:nvPr/>
        </p:nvSpPr>
        <p:spPr>
          <a:xfrm>
            <a:off x="553855" y="1344200"/>
            <a:ext cx="4356000" cy="1298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Approach</a:t>
            </a:r>
            <a:endParaRPr sz="1600" b="1">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endParaRPr>
          </a:p>
          <a:p>
            <a:pPr marL="457200" lvl="0" indent="-330200" algn="l" rtl="0">
              <a:lnSpc>
                <a:spcPct val="115000"/>
              </a:lnSpc>
              <a:spcBef>
                <a:spcPts val="0"/>
              </a:spcBef>
              <a:spcAft>
                <a:spcPts val="0"/>
              </a:spcAft>
              <a:buClr>
                <a:schemeClr val="dk1"/>
              </a:buClr>
              <a:buSzPts val="1600"/>
              <a:buFont typeface="Play"/>
              <a:buAutoNum type="arabicPeriod"/>
            </a:pPr>
            <a:r>
              <a:rPr lang="en-US" sz="1600">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Trade Dependency = (Import+Export) </a:t>
            </a:r>
            <a:endParaRPr sz="1600">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3"/>
                </a:ext>
              </a:extLst>
            </a:endParaRPr>
          </a:p>
          <a:p>
            <a:pPr marL="2743200" lvl="0" indent="0" algn="l" rtl="0">
              <a:lnSpc>
                <a:spcPct val="115000"/>
              </a:lnSpc>
              <a:spcBef>
                <a:spcPts val="0"/>
              </a:spcBef>
              <a:spcAft>
                <a:spcPts val="0"/>
              </a:spcAft>
              <a:buNone/>
            </a:pPr>
            <a:r>
              <a:rPr lang="en-US" sz="1600">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   GDP</a:t>
            </a:r>
            <a:endParaRPr sz="1600">
              <a:solidFill>
                <a:schemeClr val="dk1"/>
              </a:solidFill>
            </a:endParaRPr>
          </a:p>
          <a:p>
            <a:pPr marL="457200" lvl="0" indent="-330200" algn="l" rtl="0">
              <a:lnSpc>
                <a:spcPct val="115000"/>
              </a:lnSpc>
              <a:spcBef>
                <a:spcPts val="0"/>
              </a:spcBef>
              <a:spcAft>
                <a:spcPts val="0"/>
              </a:spcAft>
              <a:buClr>
                <a:schemeClr val="dk1"/>
              </a:buClr>
              <a:buSzPts val="1600"/>
              <a:buFont typeface="Play"/>
              <a:buAutoNum type="arabicPeriod"/>
            </a:pPr>
            <a:r>
              <a:rPr lang="en-US" sz="1600">
                <a:solidFill>
                  <a:schemeClr val="dk1"/>
                </a:solidFill>
              </a:rPr>
              <a:t>Aggregate by Region</a:t>
            </a:r>
            <a:endParaRPr sz="1600">
              <a:solidFill>
                <a:schemeClr val="dk1"/>
              </a:solidFill>
            </a:endParaRPr>
          </a:p>
          <a:p>
            <a:pPr marL="457200" lvl="0" indent="-330200" algn="l" rtl="0">
              <a:lnSpc>
                <a:spcPct val="115000"/>
              </a:lnSpc>
              <a:spcBef>
                <a:spcPts val="0"/>
              </a:spcBef>
              <a:spcAft>
                <a:spcPts val="0"/>
              </a:spcAft>
              <a:buClr>
                <a:schemeClr val="dk1"/>
              </a:buClr>
              <a:buSzPts val="1600"/>
              <a:buFont typeface="Play"/>
              <a:buAutoNum type="arabicPeriod"/>
            </a:pPr>
            <a:r>
              <a:rPr lang="en-US" sz="1600">
                <a:solidFill>
                  <a:schemeClr val="dk1"/>
                </a:solidFill>
              </a:rPr>
              <a:t>Sort by Trade-to-GDP</a:t>
            </a:r>
            <a:endParaRPr sz="1600">
              <a:solidFill>
                <a:schemeClr val="dk1"/>
              </a:solidFill>
            </a:endParaRPr>
          </a:p>
        </p:txBody>
      </p:sp>
      <p:cxnSp>
        <p:nvCxnSpPr>
          <p:cNvPr id="161" name="Google Shape;161;p6"/>
          <p:cNvCxnSpPr/>
          <p:nvPr/>
        </p:nvCxnSpPr>
        <p:spPr>
          <a:xfrm>
            <a:off x="2909891" y="1905700"/>
            <a:ext cx="16746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title"/>
          </p:nvPr>
        </p:nvSpPr>
        <p:spPr>
          <a:xfrm>
            <a:off x="313850" y="365125"/>
            <a:ext cx="110511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sz="3900"/>
              <a:t>Within Europe, which countries have the highest trade dependency?</a:t>
            </a:r>
            <a:endParaRPr sz="3500"/>
          </a:p>
        </p:txBody>
      </p:sp>
      <p:sp>
        <p:nvSpPr>
          <p:cNvPr id="167" name="Google Shape;167;p7"/>
          <p:cNvSpPr txBox="1"/>
          <p:nvPr/>
        </p:nvSpPr>
        <p:spPr>
          <a:xfrm>
            <a:off x="519841" y="2383050"/>
            <a:ext cx="4182000" cy="2091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a:solidFill>
                  <a:schemeClr val="dk1"/>
                </a:solidFill>
              </a:rPr>
              <a:t>Key Insights</a:t>
            </a:r>
            <a:endParaRPr sz="2200">
              <a:solidFill>
                <a:schemeClr val="dk1"/>
              </a:solidFill>
            </a:endParaRPr>
          </a:p>
          <a:p>
            <a:pPr marL="457200" lvl="0" indent="-368300" algn="l" rtl="0">
              <a:lnSpc>
                <a:spcPct val="115000"/>
              </a:lnSpc>
              <a:spcBef>
                <a:spcPts val="1200"/>
              </a:spcBef>
              <a:spcAft>
                <a:spcPts val="0"/>
              </a:spcAft>
              <a:buClr>
                <a:schemeClr val="dk1"/>
              </a:buClr>
              <a:buSzPts val="2200"/>
              <a:buChar char="●"/>
            </a:pPr>
            <a:r>
              <a:rPr lang="en-US" sz="2200">
                <a:solidFill>
                  <a:schemeClr val="dk1"/>
                </a:solidFill>
              </a:rPr>
              <a:t>Slovenia, Slovakia &amp; Hungary display the highest level of dependence on international trade.</a:t>
            </a:r>
            <a:endParaRPr sz="2200">
              <a:solidFill>
                <a:schemeClr val="dk1"/>
              </a:solidFill>
            </a:endParaRPr>
          </a:p>
        </p:txBody>
      </p:sp>
      <p:sp>
        <p:nvSpPr>
          <p:cNvPr id="168" name="Google Shape;168;p7"/>
          <p:cNvSpPr txBox="1"/>
          <p:nvPr/>
        </p:nvSpPr>
        <p:spPr>
          <a:xfrm>
            <a:off x="6024300" y="1741325"/>
            <a:ext cx="4794300" cy="13605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600" b="1">
                <a:solidFill>
                  <a:schemeClr val="dk1"/>
                </a:solidFill>
              </a:rPr>
              <a:t>Approach</a:t>
            </a:r>
            <a:endParaRPr sz="1600">
              <a:solidFill>
                <a:schemeClr val="dk1"/>
              </a:solidFill>
            </a:endParaRPr>
          </a:p>
          <a:p>
            <a:pPr marL="342900" lvl="0" indent="-330200" algn="l" rtl="0">
              <a:lnSpc>
                <a:spcPct val="115000"/>
              </a:lnSpc>
              <a:spcBef>
                <a:spcPts val="0"/>
              </a:spcBef>
              <a:spcAft>
                <a:spcPts val="0"/>
              </a:spcAft>
              <a:buClr>
                <a:schemeClr val="dk1"/>
              </a:buClr>
              <a:buSzPts val="1600"/>
              <a:buFont typeface="Play"/>
              <a:buAutoNum type="arabicPeriod"/>
            </a:pPr>
            <a:r>
              <a:rPr lang="en-US" sz="1600">
                <a:solidFill>
                  <a:schemeClr val="dk1"/>
                </a:solidFill>
              </a:rPr>
              <a:t>Trade Dependency = (Imports + Exports)</a:t>
            </a:r>
            <a:endParaRPr sz="1600">
              <a:solidFill>
                <a:schemeClr val="dk1"/>
              </a:solidFill>
            </a:endParaRPr>
          </a:p>
          <a:p>
            <a:pPr marL="2286000" lvl="0" indent="457200" algn="l" rtl="0">
              <a:lnSpc>
                <a:spcPct val="115000"/>
              </a:lnSpc>
              <a:spcBef>
                <a:spcPts val="0"/>
              </a:spcBef>
              <a:spcAft>
                <a:spcPts val="0"/>
              </a:spcAft>
              <a:buNone/>
            </a:pPr>
            <a:r>
              <a:rPr lang="en-US" sz="1600">
                <a:solidFill>
                  <a:schemeClr val="dk1"/>
                </a:solidFill>
              </a:rPr>
              <a:t>    GDP</a:t>
            </a:r>
            <a:endParaRPr sz="1600">
              <a:solidFill>
                <a:schemeClr val="dk1"/>
              </a:solidFill>
            </a:endParaRPr>
          </a:p>
          <a:p>
            <a:pPr marL="342900" lvl="0" indent="-330200" algn="l" rtl="0">
              <a:lnSpc>
                <a:spcPct val="115000"/>
              </a:lnSpc>
              <a:spcBef>
                <a:spcPts val="0"/>
              </a:spcBef>
              <a:spcAft>
                <a:spcPts val="0"/>
              </a:spcAft>
              <a:buClr>
                <a:schemeClr val="dk1"/>
              </a:buClr>
              <a:buSzPts val="1600"/>
              <a:buFont typeface="Play"/>
              <a:buAutoNum type="arabicPeriod"/>
            </a:pPr>
            <a:r>
              <a:rPr lang="en-US" sz="1600">
                <a:solidFill>
                  <a:schemeClr val="dk1"/>
                </a:solidFill>
              </a:rPr>
              <a:t>Filtered by Region (Europe)</a:t>
            </a:r>
            <a:endParaRPr sz="1600">
              <a:solidFill>
                <a:schemeClr val="dk1"/>
              </a:solidFill>
            </a:endParaRPr>
          </a:p>
        </p:txBody>
      </p:sp>
      <p:cxnSp>
        <p:nvCxnSpPr>
          <p:cNvPr id="169" name="Google Shape;169;p7"/>
          <p:cNvCxnSpPr/>
          <p:nvPr/>
        </p:nvCxnSpPr>
        <p:spPr>
          <a:xfrm>
            <a:off x="8260480" y="2334318"/>
            <a:ext cx="2063400" cy="0"/>
          </a:xfrm>
          <a:prstGeom prst="straightConnector1">
            <a:avLst/>
          </a:prstGeom>
          <a:noFill/>
          <a:ln w="9525" cap="flat" cmpd="sng">
            <a:solidFill>
              <a:schemeClr val="dk2"/>
            </a:solidFill>
            <a:prstDash val="solid"/>
            <a:round/>
            <a:headEnd type="none" w="med" len="med"/>
            <a:tailEnd type="none" w="med" len="med"/>
          </a:ln>
        </p:spPr>
      </p:cxnSp>
      <p:pic>
        <p:nvPicPr>
          <p:cNvPr id="170" name="Google Shape;170;p7"/>
          <p:cNvPicPr preferRelativeResize="0"/>
          <p:nvPr/>
        </p:nvPicPr>
        <p:blipFill>
          <a:blip r:embed="rId3">
            <a:alphaModFix/>
          </a:blip>
          <a:stretch>
            <a:fillRect/>
          </a:stretch>
        </p:blipFill>
        <p:spPr>
          <a:xfrm>
            <a:off x="5013719" y="3152322"/>
            <a:ext cx="6815458" cy="3381922"/>
          </a:xfrm>
          <a:prstGeom prst="rect">
            <a:avLst/>
          </a:prstGeom>
          <a:noFill/>
          <a:ln>
            <a:noFill/>
          </a:ln>
        </p:spPr>
      </p:pic>
      <p:sp>
        <p:nvSpPr>
          <p:cNvPr id="171" name="Google Shape;171;p7"/>
          <p:cNvSpPr/>
          <p:nvPr/>
        </p:nvSpPr>
        <p:spPr>
          <a:xfrm>
            <a:off x="6132847" y="3554545"/>
            <a:ext cx="5382000" cy="261600"/>
          </a:xfrm>
          <a:prstGeom prst="rect">
            <a:avLst/>
          </a:prstGeom>
          <a:solidFill>
            <a:srgbClr val="00FFFF"/>
          </a:solidFill>
          <a:ln w="11325" cap="flat" cmpd="sng">
            <a:solidFill>
              <a:schemeClr val="lt1"/>
            </a:solidFill>
            <a:prstDash val="solid"/>
            <a:round/>
            <a:headEnd type="none" w="sm" len="sm"/>
            <a:tailEnd type="none" w="sm" len="sm"/>
          </a:ln>
        </p:spPr>
        <p:txBody>
          <a:bodyPr spcFirstLastPara="1" wrap="square" lIns="108600" tIns="108600" rIns="108600" bIns="108600" anchor="ctr" anchorCtr="0">
            <a:noAutofit/>
          </a:bodyPr>
          <a:lstStyle/>
          <a:p>
            <a:pPr marL="0" lvl="0" indent="0" algn="ctr" rtl="0">
              <a:spcBef>
                <a:spcPts val="0"/>
              </a:spcBef>
              <a:spcAft>
                <a:spcPts val="0"/>
              </a:spcAft>
              <a:buNone/>
            </a:pPr>
            <a:r>
              <a:rPr lang="en-US" sz="1663" b="1">
                <a:solidFill>
                  <a:schemeClr val="dk1"/>
                </a:solidFill>
              </a:rPr>
              <a:t>								    194.7</a:t>
            </a:r>
            <a:endParaRPr sz="1663" b="1">
              <a:solidFill>
                <a:schemeClr val="dk1"/>
              </a:solidFill>
            </a:endParaRPr>
          </a:p>
        </p:txBody>
      </p:sp>
      <p:sp>
        <p:nvSpPr>
          <p:cNvPr id="172" name="Google Shape;172;p7"/>
          <p:cNvSpPr/>
          <p:nvPr/>
        </p:nvSpPr>
        <p:spPr>
          <a:xfrm>
            <a:off x="6132847" y="3865953"/>
            <a:ext cx="5282116" cy="261576"/>
          </a:xfrm>
          <a:prstGeom prst="rect">
            <a:avLst/>
          </a:prstGeom>
          <a:solidFill>
            <a:srgbClr val="00FFFF"/>
          </a:solidFill>
          <a:ln w="11325" cap="flat" cmpd="sng">
            <a:solidFill>
              <a:schemeClr val="lt1"/>
            </a:solidFill>
            <a:prstDash val="solid"/>
            <a:round/>
            <a:headEnd type="none" w="sm" len="sm"/>
            <a:tailEnd type="none" w="sm" len="sm"/>
          </a:ln>
        </p:spPr>
        <p:txBody>
          <a:bodyPr spcFirstLastPara="1" wrap="square" lIns="108600" tIns="108600" rIns="108600" bIns="108600" anchor="ctr" anchorCtr="0">
            <a:noAutofit/>
          </a:bodyPr>
          <a:lstStyle/>
          <a:p>
            <a:pPr marL="0" lvl="0" indent="0" algn="ctr" rtl="0">
              <a:spcBef>
                <a:spcPts val="0"/>
              </a:spcBef>
              <a:spcAft>
                <a:spcPts val="0"/>
              </a:spcAft>
              <a:buNone/>
            </a:pPr>
            <a:r>
              <a:rPr lang="en-US" sz="1663" b="1"/>
              <a:t>								  190.5</a:t>
            </a:r>
            <a:endParaRPr sz="1663" b="1"/>
          </a:p>
        </p:txBody>
      </p:sp>
      <p:sp>
        <p:nvSpPr>
          <p:cNvPr id="173" name="Google Shape;173;p7"/>
          <p:cNvSpPr/>
          <p:nvPr/>
        </p:nvSpPr>
        <p:spPr>
          <a:xfrm>
            <a:off x="6132847" y="4177361"/>
            <a:ext cx="5207278" cy="261576"/>
          </a:xfrm>
          <a:prstGeom prst="rect">
            <a:avLst/>
          </a:prstGeom>
          <a:solidFill>
            <a:srgbClr val="00FFFF"/>
          </a:solidFill>
          <a:ln w="11325" cap="flat" cmpd="sng">
            <a:solidFill>
              <a:schemeClr val="lt1"/>
            </a:solidFill>
            <a:prstDash val="solid"/>
            <a:round/>
            <a:headEnd type="none" w="sm" len="sm"/>
            <a:tailEnd type="none" w="sm" len="sm"/>
          </a:ln>
        </p:spPr>
        <p:txBody>
          <a:bodyPr spcFirstLastPara="1" wrap="square" lIns="108600" tIns="108600" rIns="108600" bIns="108600" anchor="ctr" anchorCtr="0">
            <a:noAutofit/>
          </a:bodyPr>
          <a:lstStyle/>
          <a:p>
            <a:pPr marL="0" lvl="0" indent="0" algn="ctr" rtl="0">
              <a:spcBef>
                <a:spcPts val="0"/>
              </a:spcBef>
              <a:spcAft>
                <a:spcPts val="0"/>
              </a:spcAft>
              <a:buNone/>
            </a:pPr>
            <a:r>
              <a:rPr lang="en-US" sz="1663" b="1"/>
              <a:t>							          188.1</a:t>
            </a:r>
            <a:endParaRPr sz="1663"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7"/>
        <p:cNvGrpSpPr/>
        <p:nvPr/>
      </p:nvGrpSpPr>
      <p:grpSpPr>
        <a:xfrm>
          <a:off x="0" y="0"/>
          <a:ext cx="0" cy="0"/>
          <a:chOff x="0" y="0"/>
          <a:chExt cx="0" cy="0"/>
        </a:xfrm>
      </p:grpSpPr>
      <p:sp>
        <p:nvSpPr>
          <p:cNvPr id="178" name="Google Shape;178;p1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9" name="Google Shape;179;p11"/>
          <p:cNvSpPr/>
          <p:nvPr/>
        </p:nvSpPr>
        <p:spPr>
          <a:xfrm rot="10800000">
            <a:off x="-2" y="-22693"/>
            <a:ext cx="12191999" cy="4374129"/>
          </a:xfrm>
          <a:prstGeom prst="rect">
            <a:avLst/>
          </a:prstGeom>
          <a:gradFill>
            <a:gsLst>
              <a:gs pos="0">
                <a:srgbClr val="0F4861"/>
              </a:gs>
              <a:gs pos="100000">
                <a:srgbClr val="000000"/>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0" name="Google Shape;180;p11"/>
          <p:cNvSpPr/>
          <p:nvPr/>
        </p:nvSpPr>
        <p:spPr>
          <a:xfrm rot="5400000">
            <a:off x="3908719" y="-3931841"/>
            <a:ext cx="4374557" cy="12192000"/>
          </a:xfrm>
          <a:prstGeom prst="rect">
            <a:avLst/>
          </a:prstGeom>
          <a:gradFill>
            <a:gsLst>
              <a:gs pos="0">
                <a:srgbClr val="156082">
                  <a:alpha val="0"/>
                </a:srgbClr>
              </a:gs>
              <a:gs pos="40000">
                <a:srgbClr val="156082">
                  <a:alpha val="0"/>
                </a:srgbClr>
              </a:gs>
              <a:gs pos="100000">
                <a:srgbClr val="0F4861">
                  <a:alpha val="51764"/>
                </a:srgbClr>
              </a:gs>
            </a:gsLst>
            <a:lin ang="2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1" name="Google Shape;181;p11"/>
          <p:cNvSpPr/>
          <p:nvPr/>
        </p:nvSpPr>
        <p:spPr>
          <a:xfrm rot="5400000">
            <a:off x="4136696" y="-3703868"/>
            <a:ext cx="4374128" cy="11736479"/>
          </a:xfrm>
          <a:prstGeom prst="rect">
            <a:avLst/>
          </a:prstGeom>
          <a:gradFill>
            <a:gsLst>
              <a:gs pos="0">
                <a:srgbClr val="156082">
                  <a:alpha val="0"/>
                </a:srgbClr>
              </a:gs>
              <a:gs pos="17000">
                <a:srgbClr val="156082">
                  <a:alpha val="0"/>
                </a:srgbClr>
              </a:gs>
              <a:gs pos="100000">
                <a:srgbClr val="000000">
                  <a:alpha val="36862"/>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2" name="Google Shape;182;p11"/>
          <p:cNvSpPr/>
          <p:nvPr/>
        </p:nvSpPr>
        <p:spPr>
          <a:xfrm>
            <a:off x="-5" y="-22690"/>
            <a:ext cx="8542485" cy="4374126"/>
          </a:xfrm>
          <a:prstGeom prst="rect">
            <a:avLst/>
          </a:prstGeom>
          <a:gradFill>
            <a:gsLst>
              <a:gs pos="0">
                <a:srgbClr val="0A3041">
                  <a:alpha val="0"/>
                </a:srgbClr>
              </a:gs>
              <a:gs pos="100000">
                <a:srgbClr val="000000">
                  <a:alpha val="24705"/>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3" name="Google Shape;183;p11"/>
          <p:cNvSpPr/>
          <p:nvPr/>
        </p:nvSpPr>
        <p:spPr>
          <a:xfrm rot="-9091028">
            <a:off x="5945431" y="-1032053"/>
            <a:ext cx="4990147" cy="4439131"/>
          </a:xfrm>
          <a:custGeom>
            <a:avLst/>
            <a:gdLst/>
            <a:ahLst/>
            <a:cxnLst/>
            <a:rect l="l" t="t" r="r" b="b"/>
            <a:pathLst>
              <a:path w="4990147" h="4439131" extrusionOk="0">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rgbClr val="156082">
                  <a:alpha val="21960"/>
                </a:srgbClr>
              </a:gs>
              <a:gs pos="87000">
                <a:srgbClr val="43AFE2">
                  <a:alpha val="1960"/>
                </a:srgbClr>
              </a:gs>
              <a:gs pos="100000">
                <a:srgbClr val="43AFE2">
                  <a:alpha val="196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4" name="Google Shape;184;p11"/>
          <p:cNvSpPr txBox="1">
            <a:spLocks noGrp="1"/>
          </p:cNvSpPr>
          <p:nvPr>
            <p:ph type="title"/>
          </p:nvPr>
        </p:nvSpPr>
        <p:spPr>
          <a:xfrm>
            <a:off x="532100" y="522175"/>
            <a:ext cx="11583300" cy="29286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FFFF"/>
              </a:buClr>
              <a:buSzPts val="4800"/>
              <a:buFont typeface="Play"/>
              <a:buNone/>
            </a:pPr>
            <a:r>
              <a:rPr lang="en-US" sz="4600">
                <a:solidFill>
                  <a:schemeClr val="lt1"/>
                </a:solidFill>
              </a:rPr>
              <a:t>Import Dependency vs Export Dependency </a:t>
            </a:r>
            <a:endParaRPr sz="4600">
              <a:solidFill>
                <a:schemeClr val="lt1"/>
              </a:solidFill>
            </a:endParaRPr>
          </a:p>
          <a:p>
            <a:pPr marL="0" lvl="0" indent="0" algn="l" rtl="0">
              <a:lnSpc>
                <a:spcPct val="90000"/>
              </a:lnSpc>
              <a:spcBef>
                <a:spcPts val="0"/>
              </a:spcBef>
              <a:spcAft>
                <a:spcPts val="0"/>
              </a:spcAft>
              <a:buClr>
                <a:srgbClr val="FFFFFF"/>
              </a:buClr>
              <a:buSzPts val="4800"/>
              <a:buFont typeface="Play"/>
              <a:buNone/>
            </a:pPr>
            <a:r>
              <a:rPr lang="en-US" sz="2800">
                <a:solidFill>
                  <a:schemeClr val="lt1"/>
                </a:solidFill>
              </a:rPr>
              <a:t>of the most trade dependent countries in Europe</a:t>
            </a:r>
            <a:endParaRPr sz="28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2"/>
          <p:cNvSpPr txBox="1">
            <a:spLocks noGrp="1"/>
          </p:cNvSpPr>
          <p:nvPr>
            <p:ph type="title"/>
          </p:nvPr>
        </p:nvSpPr>
        <p:spPr>
          <a:xfrm>
            <a:off x="182400" y="365125"/>
            <a:ext cx="11877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4800"/>
              <a:buFont typeface="Play"/>
              <a:buNone/>
            </a:pPr>
            <a:r>
              <a:rPr lang="en-US" sz="4100"/>
              <a:t>Import Dependency vs Export Dependency</a:t>
            </a:r>
            <a:endParaRPr sz="4000"/>
          </a:p>
        </p:txBody>
      </p:sp>
      <p:sp>
        <p:nvSpPr>
          <p:cNvPr id="191" name="Google Shape;191;p12"/>
          <p:cNvSpPr txBox="1"/>
          <p:nvPr/>
        </p:nvSpPr>
        <p:spPr>
          <a:xfrm>
            <a:off x="442157" y="2320800"/>
            <a:ext cx="3844200" cy="221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200" b="1">
                <a:solidFill>
                  <a:schemeClr val="dk1"/>
                </a:solidFill>
              </a:rPr>
              <a:t>Key Insights</a:t>
            </a:r>
            <a:endParaRPr sz="2200" b="1">
              <a:solidFill>
                <a:schemeClr val="dk1"/>
              </a:solidFill>
            </a:endParaRPr>
          </a:p>
          <a:p>
            <a:pPr marL="0" lvl="0" indent="0" algn="l" rtl="0">
              <a:spcBef>
                <a:spcPts val="0"/>
              </a:spcBef>
              <a:spcAft>
                <a:spcPts val="0"/>
              </a:spcAft>
              <a:buNone/>
            </a:pPr>
            <a:endParaRPr sz="2200" b="1">
              <a:solidFill>
                <a:schemeClr val="dk1"/>
              </a:solidFill>
            </a:endParaRPr>
          </a:p>
          <a:p>
            <a:pPr marL="457200" lvl="0" indent="-368300" algn="l" rtl="0">
              <a:spcBef>
                <a:spcPts val="0"/>
              </a:spcBef>
              <a:spcAft>
                <a:spcPts val="0"/>
              </a:spcAft>
              <a:buClr>
                <a:schemeClr val="dk1"/>
              </a:buClr>
              <a:buSzPts val="2200"/>
              <a:buChar char="●"/>
            </a:pPr>
            <a:r>
              <a:rPr lang="en-US" sz="2200">
                <a:solidFill>
                  <a:schemeClr val="dk1"/>
                </a:solidFill>
              </a:rPr>
              <a:t>Export &gt; Import</a:t>
            </a:r>
            <a:endParaRPr sz="2200">
              <a:solidFill>
                <a:schemeClr val="dk1"/>
              </a:solidFill>
            </a:endParaRPr>
          </a:p>
          <a:p>
            <a:pPr marL="0" lvl="0" indent="0" algn="l" rtl="0">
              <a:spcBef>
                <a:spcPts val="0"/>
              </a:spcBef>
              <a:spcAft>
                <a:spcPts val="0"/>
              </a:spcAft>
              <a:buNone/>
            </a:pPr>
            <a:endParaRPr sz="2200">
              <a:solidFill>
                <a:schemeClr val="dk1"/>
              </a:solidFill>
            </a:endParaRPr>
          </a:p>
          <a:p>
            <a:pPr marL="457200" lvl="0" indent="-368300" algn="l" rtl="0">
              <a:spcBef>
                <a:spcPts val="0"/>
              </a:spcBef>
              <a:spcAft>
                <a:spcPts val="0"/>
              </a:spcAft>
              <a:buClr>
                <a:schemeClr val="dk1"/>
              </a:buClr>
              <a:buSzPts val="2200"/>
              <a:buChar char="●"/>
            </a:pPr>
            <a:r>
              <a:rPr lang="en-US" sz="2200">
                <a:solidFill>
                  <a:schemeClr val="dk1"/>
                </a:solidFill>
              </a:rPr>
              <a:t>Slovenia with the biggest difference </a:t>
            </a:r>
            <a:r>
              <a:rPr lang="en-US" sz="2200" b="1">
                <a:solidFill>
                  <a:schemeClr val="dk1"/>
                </a:solidFill>
              </a:rPr>
              <a:t>(5.9%)</a:t>
            </a:r>
            <a:endParaRPr sz="2200" b="1">
              <a:solidFill>
                <a:schemeClr val="dk1"/>
              </a:solidFill>
            </a:endParaRPr>
          </a:p>
        </p:txBody>
      </p:sp>
      <p:sp>
        <p:nvSpPr>
          <p:cNvPr id="192" name="Google Shape;192;p12"/>
          <p:cNvSpPr txBox="1"/>
          <p:nvPr/>
        </p:nvSpPr>
        <p:spPr>
          <a:xfrm>
            <a:off x="5383675" y="1690820"/>
            <a:ext cx="5494500" cy="95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1800" b="1">
                <a:solidFill>
                  <a:schemeClr val="dk1"/>
                </a:solidFill>
              </a:rPr>
              <a:t>Approach</a:t>
            </a:r>
            <a:endParaRPr sz="1800" b="1" u="sng">
              <a:solidFill>
                <a:schemeClr val="dk1"/>
              </a:solidFill>
            </a:endParaRPr>
          </a:p>
          <a:p>
            <a:pPr marL="457200" lvl="0" indent="-330200" algn="l" rtl="0">
              <a:spcBef>
                <a:spcPts val="0"/>
              </a:spcBef>
              <a:spcAft>
                <a:spcPts val="0"/>
              </a:spcAft>
              <a:buClr>
                <a:schemeClr val="dk1"/>
              </a:buClr>
              <a:buSzPts val="1600"/>
              <a:buAutoNum type="arabicPeriod"/>
            </a:pPr>
            <a:r>
              <a:rPr lang="en-US" sz="1600">
                <a:solidFill>
                  <a:schemeClr val="dk1"/>
                </a:solidFill>
              </a:rPr>
              <a:t>Calculate Import-to-GDP &amp; Export-to-GDP</a:t>
            </a:r>
            <a:endParaRPr sz="1600">
              <a:solidFill>
                <a:schemeClr val="dk1"/>
              </a:solidFill>
            </a:endParaRPr>
          </a:p>
          <a:p>
            <a:pPr marL="457200" lvl="0" indent="-330200" algn="l" rtl="0">
              <a:lnSpc>
                <a:spcPct val="115000"/>
              </a:lnSpc>
              <a:spcBef>
                <a:spcPts val="0"/>
              </a:spcBef>
              <a:spcAft>
                <a:spcPts val="0"/>
              </a:spcAft>
              <a:buClr>
                <a:schemeClr val="dk1"/>
              </a:buClr>
              <a:buSzPts val="1600"/>
              <a:buAutoNum type="arabicPeriod"/>
            </a:pPr>
            <a:r>
              <a:rPr lang="en-US" sz="1600">
                <a:solidFill>
                  <a:schemeClr val="dk1"/>
                </a:solidFill>
              </a:rPr>
              <a:t>Filter by Country - Slovenia, Slovakia, and Hungary</a:t>
            </a:r>
            <a:endParaRPr sz="1600">
              <a:solidFill>
                <a:schemeClr val="dk1"/>
              </a:solidFill>
            </a:endParaRPr>
          </a:p>
        </p:txBody>
      </p:sp>
      <p:pic>
        <p:nvPicPr>
          <p:cNvPr id="193" name="Google Shape;193;p12"/>
          <p:cNvPicPr preferRelativeResize="0"/>
          <p:nvPr/>
        </p:nvPicPr>
        <p:blipFill>
          <a:blip r:embed="rId3">
            <a:alphaModFix/>
          </a:blip>
          <a:stretch>
            <a:fillRect/>
          </a:stretch>
        </p:blipFill>
        <p:spPr>
          <a:xfrm>
            <a:off x="4364175" y="2918375"/>
            <a:ext cx="7533500" cy="36971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7"/>
        <p:cNvGrpSpPr/>
        <p:nvPr/>
      </p:nvGrpSpPr>
      <p:grpSpPr>
        <a:xfrm>
          <a:off x="0" y="0"/>
          <a:ext cx="0" cy="0"/>
          <a:chOff x="0" y="0"/>
          <a:chExt cx="0" cy="0"/>
        </a:xfrm>
      </p:grpSpPr>
      <p:sp>
        <p:nvSpPr>
          <p:cNvPr id="198" name="Google Shape;198;p1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9" name="Google Shape;199;p15"/>
          <p:cNvSpPr/>
          <p:nvPr/>
        </p:nvSpPr>
        <p:spPr>
          <a:xfrm rot="10800000">
            <a:off x="-2" y="-22693"/>
            <a:ext cx="12191999" cy="4374129"/>
          </a:xfrm>
          <a:prstGeom prst="rect">
            <a:avLst/>
          </a:prstGeom>
          <a:gradFill>
            <a:gsLst>
              <a:gs pos="0">
                <a:srgbClr val="0F4861"/>
              </a:gs>
              <a:gs pos="100000">
                <a:srgbClr val="000000"/>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0" name="Google Shape;200;p15"/>
          <p:cNvSpPr/>
          <p:nvPr/>
        </p:nvSpPr>
        <p:spPr>
          <a:xfrm rot="5400000">
            <a:off x="3908719" y="-3931841"/>
            <a:ext cx="4374557" cy="12192000"/>
          </a:xfrm>
          <a:prstGeom prst="rect">
            <a:avLst/>
          </a:prstGeom>
          <a:gradFill>
            <a:gsLst>
              <a:gs pos="0">
                <a:srgbClr val="156082">
                  <a:alpha val="0"/>
                </a:srgbClr>
              </a:gs>
              <a:gs pos="40000">
                <a:srgbClr val="156082">
                  <a:alpha val="0"/>
                </a:srgbClr>
              </a:gs>
              <a:gs pos="100000">
                <a:srgbClr val="0F4861">
                  <a:alpha val="51764"/>
                </a:srgbClr>
              </a:gs>
            </a:gsLst>
            <a:lin ang="2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1" name="Google Shape;201;p15"/>
          <p:cNvSpPr/>
          <p:nvPr/>
        </p:nvSpPr>
        <p:spPr>
          <a:xfrm rot="5400000">
            <a:off x="4136696" y="-3703868"/>
            <a:ext cx="4374128" cy="11736479"/>
          </a:xfrm>
          <a:prstGeom prst="rect">
            <a:avLst/>
          </a:prstGeom>
          <a:gradFill>
            <a:gsLst>
              <a:gs pos="0">
                <a:srgbClr val="156082">
                  <a:alpha val="0"/>
                </a:srgbClr>
              </a:gs>
              <a:gs pos="17000">
                <a:srgbClr val="156082">
                  <a:alpha val="0"/>
                </a:srgbClr>
              </a:gs>
              <a:gs pos="100000">
                <a:srgbClr val="000000">
                  <a:alpha val="36862"/>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2" name="Google Shape;202;p15"/>
          <p:cNvSpPr/>
          <p:nvPr/>
        </p:nvSpPr>
        <p:spPr>
          <a:xfrm>
            <a:off x="-5" y="-22690"/>
            <a:ext cx="8542485" cy="4374126"/>
          </a:xfrm>
          <a:prstGeom prst="rect">
            <a:avLst/>
          </a:prstGeom>
          <a:gradFill>
            <a:gsLst>
              <a:gs pos="0">
                <a:srgbClr val="0A3041">
                  <a:alpha val="0"/>
                </a:srgbClr>
              </a:gs>
              <a:gs pos="100000">
                <a:srgbClr val="000000">
                  <a:alpha val="24705"/>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3" name="Google Shape;203;p15"/>
          <p:cNvSpPr/>
          <p:nvPr/>
        </p:nvSpPr>
        <p:spPr>
          <a:xfrm rot="-9091028">
            <a:off x="5945431" y="-1032053"/>
            <a:ext cx="4990147" cy="4439131"/>
          </a:xfrm>
          <a:custGeom>
            <a:avLst/>
            <a:gdLst/>
            <a:ahLst/>
            <a:cxnLst/>
            <a:rect l="l" t="t" r="r" b="b"/>
            <a:pathLst>
              <a:path w="4990147" h="4439131" extrusionOk="0">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rgbClr val="156082">
                  <a:alpha val="21960"/>
                </a:srgbClr>
              </a:gs>
              <a:gs pos="87000">
                <a:srgbClr val="43AFE2">
                  <a:alpha val="1960"/>
                </a:srgbClr>
              </a:gs>
              <a:gs pos="100000">
                <a:srgbClr val="43AFE2">
                  <a:alpha val="196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4" name="Google Shape;204;p15"/>
          <p:cNvSpPr txBox="1">
            <a:spLocks noGrp="1"/>
          </p:cNvSpPr>
          <p:nvPr>
            <p:ph type="title"/>
          </p:nvPr>
        </p:nvSpPr>
        <p:spPr>
          <a:xfrm>
            <a:off x="455525" y="757525"/>
            <a:ext cx="11389200" cy="29286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FFFF"/>
              </a:buClr>
              <a:buSzPts val="4800"/>
              <a:buFont typeface="Play"/>
              <a:buNone/>
            </a:pPr>
            <a:r>
              <a:rPr lang="en-US" sz="4800" b="0" i="0">
                <a:solidFill>
                  <a:srgbClr val="FFFFFF"/>
                </a:solidFill>
                <a:latin typeface="Play"/>
                <a:ea typeface="Play"/>
                <a:cs typeface="Play"/>
                <a:sym typeface="Play"/>
              </a:rPr>
              <a:t>Which </a:t>
            </a:r>
            <a:r>
              <a:rPr lang="en-US" sz="4800">
                <a:solidFill>
                  <a:srgbClr val="FFFFFF"/>
                </a:solidFill>
              </a:rPr>
              <a:t>product categories drive </a:t>
            </a:r>
            <a:endParaRPr sz="4800">
              <a:solidFill>
                <a:srgbClr val="FFFFFF"/>
              </a:solidFill>
            </a:endParaRPr>
          </a:p>
          <a:p>
            <a:pPr marL="0" lvl="0" indent="0" algn="l" rtl="0">
              <a:lnSpc>
                <a:spcPct val="90000"/>
              </a:lnSpc>
              <a:spcBef>
                <a:spcPts val="0"/>
              </a:spcBef>
              <a:spcAft>
                <a:spcPts val="0"/>
              </a:spcAft>
              <a:buClr>
                <a:srgbClr val="FFFFFF"/>
              </a:buClr>
              <a:buSzPts val="4800"/>
              <a:buFont typeface="Play"/>
              <a:buNone/>
            </a:pPr>
            <a:r>
              <a:rPr lang="en-US" sz="4800">
                <a:solidFill>
                  <a:srgbClr val="FFFFFF"/>
                </a:solidFill>
              </a:rPr>
              <a:t>the top trade dependent countries</a:t>
            </a:r>
            <a:r>
              <a:rPr lang="en-US" sz="4800" b="0" i="0">
                <a:solidFill>
                  <a:srgbClr val="FFFFFF"/>
                </a:solidFill>
                <a:latin typeface="Play"/>
                <a:ea typeface="Play"/>
                <a:cs typeface="Play"/>
                <a:sym typeface="Play"/>
              </a:rPr>
              <a:t>?</a:t>
            </a:r>
            <a:endParaRPr sz="4800">
              <a:solidFill>
                <a:srgbClr val="FFFFFF"/>
              </a:solidFill>
              <a:latin typeface="Play"/>
              <a:ea typeface="Play"/>
              <a:cs typeface="Play"/>
              <a:sym typeface="Play"/>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g3a44b44c33f_2_56"/>
          <p:cNvPicPr preferRelativeResize="0"/>
          <p:nvPr/>
        </p:nvPicPr>
        <p:blipFill>
          <a:blip r:embed="rId3">
            <a:alphaModFix/>
          </a:blip>
          <a:stretch>
            <a:fillRect/>
          </a:stretch>
        </p:blipFill>
        <p:spPr>
          <a:xfrm>
            <a:off x="188607" y="2273005"/>
            <a:ext cx="7718349" cy="4202126"/>
          </a:xfrm>
          <a:prstGeom prst="rect">
            <a:avLst/>
          </a:prstGeom>
          <a:noFill/>
          <a:ln>
            <a:noFill/>
          </a:ln>
        </p:spPr>
      </p:pic>
      <p:sp>
        <p:nvSpPr>
          <p:cNvPr id="210" name="Google Shape;210;g3a44b44c33f_2_56"/>
          <p:cNvSpPr txBox="1">
            <a:spLocks noGrp="1"/>
          </p:cNvSpPr>
          <p:nvPr>
            <p:ph type="title"/>
          </p:nvPr>
        </p:nvSpPr>
        <p:spPr>
          <a:xfrm>
            <a:off x="243200" y="365125"/>
            <a:ext cx="115920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Play"/>
              <a:buNone/>
            </a:pPr>
            <a:r>
              <a:rPr lang="en-US" sz="3600"/>
              <a:t>Products Behind Trade Dependence Countries in Europe</a:t>
            </a:r>
            <a:endParaRPr sz="3600"/>
          </a:p>
        </p:txBody>
      </p:sp>
      <p:sp>
        <p:nvSpPr>
          <p:cNvPr id="211" name="Google Shape;211;g3a44b44c33f_2_56"/>
          <p:cNvSpPr txBox="1"/>
          <p:nvPr/>
        </p:nvSpPr>
        <p:spPr>
          <a:xfrm>
            <a:off x="8132175" y="1707450"/>
            <a:ext cx="3592200" cy="344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solidFill>
                  <a:schemeClr val="dk1"/>
                </a:solidFill>
              </a:rPr>
              <a:t>Key Insights</a:t>
            </a:r>
            <a:endParaRPr sz="2200" b="1">
              <a:solidFill>
                <a:schemeClr val="dk1"/>
              </a:solidFill>
            </a:endParaRPr>
          </a:p>
          <a:p>
            <a:pPr marL="457200" lvl="0" indent="-368300" algn="l" rtl="0">
              <a:lnSpc>
                <a:spcPct val="115000"/>
              </a:lnSpc>
              <a:spcBef>
                <a:spcPts val="1200"/>
              </a:spcBef>
              <a:spcAft>
                <a:spcPts val="0"/>
              </a:spcAft>
              <a:buClr>
                <a:schemeClr val="dk1"/>
              </a:buClr>
              <a:buSzPts val="2200"/>
              <a:buChar char="●"/>
            </a:pPr>
            <a:r>
              <a:rPr lang="en-US" sz="2200">
                <a:solidFill>
                  <a:schemeClr val="dk1"/>
                </a:solidFill>
              </a:rPr>
              <a:t>Import: </a:t>
            </a:r>
            <a:endParaRPr sz="2200">
              <a:solidFill>
                <a:schemeClr val="dk1"/>
              </a:solidFill>
            </a:endParaRPr>
          </a:p>
          <a:p>
            <a:pPr marL="457200" lvl="0" indent="0" algn="l" rtl="0">
              <a:lnSpc>
                <a:spcPct val="115000"/>
              </a:lnSpc>
              <a:spcBef>
                <a:spcPts val="1200"/>
              </a:spcBef>
              <a:spcAft>
                <a:spcPts val="0"/>
              </a:spcAft>
              <a:buNone/>
            </a:pPr>
            <a:r>
              <a:rPr lang="en-US" sz="2200">
                <a:solidFill>
                  <a:schemeClr val="dk1"/>
                </a:solidFill>
              </a:rPr>
              <a:t>Capital Goods Intermediate Goods</a:t>
            </a:r>
            <a:endParaRPr sz="2200">
              <a:solidFill>
                <a:schemeClr val="dk1"/>
              </a:solidFill>
            </a:endParaRPr>
          </a:p>
          <a:p>
            <a:pPr marL="457200" lvl="0" indent="-368300" algn="l" rtl="0">
              <a:lnSpc>
                <a:spcPct val="115000"/>
              </a:lnSpc>
              <a:spcBef>
                <a:spcPts val="1200"/>
              </a:spcBef>
              <a:spcAft>
                <a:spcPts val="0"/>
              </a:spcAft>
              <a:buClr>
                <a:schemeClr val="dk1"/>
              </a:buClr>
              <a:buSzPts val="2200"/>
              <a:buChar char="●"/>
            </a:pPr>
            <a:r>
              <a:rPr lang="en-US" sz="2200">
                <a:solidFill>
                  <a:schemeClr val="dk1"/>
                </a:solidFill>
              </a:rPr>
              <a:t>Export: </a:t>
            </a:r>
            <a:endParaRPr sz="2200">
              <a:solidFill>
                <a:schemeClr val="dk1"/>
              </a:solidFill>
            </a:endParaRPr>
          </a:p>
          <a:p>
            <a:pPr marL="457200" lvl="0" indent="0" algn="l" rtl="0">
              <a:lnSpc>
                <a:spcPct val="115000"/>
              </a:lnSpc>
              <a:spcBef>
                <a:spcPts val="1200"/>
              </a:spcBef>
              <a:spcAft>
                <a:spcPts val="1200"/>
              </a:spcAft>
              <a:buNone/>
            </a:pPr>
            <a:r>
              <a:rPr lang="en-US" sz="2200">
                <a:solidFill>
                  <a:schemeClr val="dk1"/>
                </a:solidFill>
              </a:rPr>
              <a:t>Consumer Goods</a:t>
            </a:r>
            <a:endParaRPr sz="2800">
              <a:solidFill>
                <a:schemeClr val="dk1"/>
              </a:solidFill>
            </a:endParaRPr>
          </a:p>
        </p:txBody>
      </p:sp>
      <p:sp>
        <p:nvSpPr>
          <p:cNvPr id="212" name="Google Shape;212;g3a44b44c33f_2_56"/>
          <p:cNvSpPr/>
          <p:nvPr/>
        </p:nvSpPr>
        <p:spPr>
          <a:xfrm>
            <a:off x="5194894" y="3178318"/>
            <a:ext cx="704700" cy="2613000"/>
          </a:xfrm>
          <a:prstGeom prst="rect">
            <a:avLst/>
          </a:prstGeom>
          <a:noFill/>
          <a:ln w="39400" cap="flat" cmpd="sng">
            <a:solidFill>
              <a:srgbClr val="FF0000"/>
            </a:solidFill>
            <a:prstDash val="solid"/>
            <a:round/>
            <a:headEnd type="none" w="sm" len="sm"/>
            <a:tailEnd type="none" w="sm" len="sm"/>
          </a:ln>
        </p:spPr>
        <p:txBody>
          <a:bodyPr spcFirstLastPara="1" wrap="square" lIns="94525" tIns="94525" rIns="94525" bIns="94525" anchor="ctr" anchorCtr="0">
            <a:noAutofit/>
          </a:bodyPr>
          <a:lstStyle/>
          <a:p>
            <a:pPr marL="0" lvl="0" indent="0" algn="ctr" rtl="0">
              <a:spcBef>
                <a:spcPts val="0"/>
              </a:spcBef>
              <a:spcAft>
                <a:spcPts val="0"/>
              </a:spcAft>
              <a:buNone/>
            </a:pPr>
            <a:endParaRPr sz="1447"/>
          </a:p>
        </p:txBody>
      </p:sp>
      <p:sp>
        <p:nvSpPr>
          <p:cNvPr id="213" name="Google Shape;213;g3a44b44c33f_2_56"/>
          <p:cNvSpPr/>
          <p:nvPr/>
        </p:nvSpPr>
        <p:spPr>
          <a:xfrm>
            <a:off x="6278604" y="3546122"/>
            <a:ext cx="704700" cy="2245200"/>
          </a:xfrm>
          <a:prstGeom prst="rect">
            <a:avLst/>
          </a:prstGeom>
          <a:noFill/>
          <a:ln w="39400" cap="flat" cmpd="sng">
            <a:solidFill>
              <a:srgbClr val="FF0000"/>
            </a:solidFill>
            <a:prstDash val="solid"/>
            <a:round/>
            <a:headEnd type="none" w="sm" len="sm"/>
            <a:tailEnd type="none" w="sm" len="sm"/>
          </a:ln>
        </p:spPr>
        <p:txBody>
          <a:bodyPr spcFirstLastPara="1" wrap="square" lIns="94525" tIns="94525" rIns="94525" bIns="94525" anchor="ctr" anchorCtr="0">
            <a:noAutofit/>
          </a:bodyPr>
          <a:lstStyle/>
          <a:p>
            <a:pPr marL="0" lvl="0" indent="0" algn="ctr" rtl="0">
              <a:spcBef>
                <a:spcPts val="0"/>
              </a:spcBef>
              <a:spcAft>
                <a:spcPts val="0"/>
              </a:spcAft>
              <a:buNone/>
            </a:pPr>
            <a:endParaRPr sz="1447"/>
          </a:p>
        </p:txBody>
      </p:sp>
      <p:sp>
        <p:nvSpPr>
          <p:cNvPr id="214" name="Google Shape;214;g3a44b44c33f_2_56"/>
          <p:cNvSpPr/>
          <p:nvPr/>
        </p:nvSpPr>
        <p:spPr>
          <a:xfrm>
            <a:off x="2917776" y="4754825"/>
            <a:ext cx="704700" cy="1036500"/>
          </a:xfrm>
          <a:prstGeom prst="rect">
            <a:avLst/>
          </a:prstGeom>
          <a:noFill/>
          <a:ln w="39400" cap="flat" cmpd="sng">
            <a:solidFill>
              <a:srgbClr val="FF0000"/>
            </a:solidFill>
            <a:prstDash val="solid"/>
            <a:round/>
            <a:headEnd type="none" w="sm" len="sm"/>
            <a:tailEnd type="none" w="sm" len="sm"/>
          </a:ln>
        </p:spPr>
        <p:txBody>
          <a:bodyPr spcFirstLastPara="1" wrap="square" lIns="94525" tIns="94525" rIns="94525" bIns="94525" anchor="ctr" anchorCtr="0">
            <a:noAutofit/>
          </a:bodyPr>
          <a:lstStyle/>
          <a:p>
            <a:pPr marL="0" lvl="0" indent="0" algn="ctr" rtl="0">
              <a:spcBef>
                <a:spcPts val="0"/>
              </a:spcBef>
              <a:spcAft>
                <a:spcPts val="0"/>
              </a:spcAft>
              <a:buNone/>
            </a:pPr>
            <a:endParaRPr sz="1447"/>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g3a44b44c33f_2_73"/>
          <p:cNvPicPr preferRelativeResize="0"/>
          <p:nvPr/>
        </p:nvPicPr>
        <p:blipFill>
          <a:blip r:embed="rId3">
            <a:alphaModFix/>
          </a:blip>
          <a:stretch>
            <a:fillRect/>
          </a:stretch>
        </p:blipFill>
        <p:spPr>
          <a:xfrm>
            <a:off x="4217750" y="2143125"/>
            <a:ext cx="7771949" cy="4231300"/>
          </a:xfrm>
          <a:prstGeom prst="rect">
            <a:avLst/>
          </a:prstGeom>
          <a:noFill/>
          <a:ln>
            <a:noFill/>
          </a:ln>
        </p:spPr>
      </p:pic>
      <p:sp>
        <p:nvSpPr>
          <p:cNvPr id="220" name="Google Shape;220;g3a44b44c33f_2_73"/>
          <p:cNvSpPr txBox="1">
            <a:spLocks noGrp="1"/>
          </p:cNvSpPr>
          <p:nvPr>
            <p:ph type="title"/>
          </p:nvPr>
        </p:nvSpPr>
        <p:spPr>
          <a:xfrm>
            <a:off x="243200" y="365125"/>
            <a:ext cx="115920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Play"/>
              <a:buNone/>
            </a:pPr>
            <a:r>
              <a:rPr lang="en-US" sz="3600"/>
              <a:t>Products Behind Trade Dependence Countries in Europe</a:t>
            </a:r>
            <a:endParaRPr sz="3600"/>
          </a:p>
        </p:txBody>
      </p:sp>
      <p:sp>
        <p:nvSpPr>
          <p:cNvPr id="221" name="Google Shape;221;g3a44b44c33f_2_73"/>
          <p:cNvSpPr txBox="1"/>
          <p:nvPr/>
        </p:nvSpPr>
        <p:spPr>
          <a:xfrm>
            <a:off x="400000" y="1690825"/>
            <a:ext cx="3561000" cy="334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solidFill>
                  <a:schemeClr val="dk1"/>
                </a:solidFill>
              </a:rPr>
              <a:t>Key Insights</a:t>
            </a:r>
            <a:endParaRPr sz="2200" b="1">
              <a:solidFill>
                <a:schemeClr val="dk1"/>
              </a:solidFill>
            </a:endParaRPr>
          </a:p>
          <a:p>
            <a:pPr marL="0" lvl="0" indent="0" algn="l" rtl="0">
              <a:spcBef>
                <a:spcPts val="0"/>
              </a:spcBef>
              <a:spcAft>
                <a:spcPts val="0"/>
              </a:spcAft>
              <a:buNone/>
            </a:pPr>
            <a:endParaRPr sz="2200" b="1">
              <a:solidFill>
                <a:schemeClr val="dk1"/>
              </a:solidFill>
            </a:endParaRPr>
          </a:p>
          <a:p>
            <a:pPr marL="457200" lvl="0" indent="-368300" algn="l" rtl="0">
              <a:spcBef>
                <a:spcPts val="0"/>
              </a:spcBef>
              <a:spcAft>
                <a:spcPts val="0"/>
              </a:spcAft>
              <a:buClr>
                <a:schemeClr val="dk1"/>
              </a:buClr>
              <a:buSzPts val="2200"/>
              <a:buChar char="●"/>
            </a:pPr>
            <a:r>
              <a:rPr lang="en-US" sz="2200">
                <a:solidFill>
                  <a:schemeClr val="dk1"/>
                </a:solidFill>
              </a:rPr>
              <a:t>Import: </a:t>
            </a:r>
            <a:endParaRPr sz="2200">
              <a:solidFill>
                <a:schemeClr val="dk1"/>
              </a:solidFill>
            </a:endParaRPr>
          </a:p>
          <a:p>
            <a:pPr marL="457200" lvl="0" indent="0" algn="l" rtl="0">
              <a:spcBef>
                <a:spcPts val="0"/>
              </a:spcBef>
              <a:spcAft>
                <a:spcPts val="0"/>
              </a:spcAft>
              <a:buNone/>
            </a:pPr>
            <a:r>
              <a:rPr lang="en-US" sz="2200">
                <a:solidFill>
                  <a:schemeClr val="dk1"/>
                </a:solidFill>
              </a:rPr>
              <a:t>Raw Materials  Intermediate Goods</a:t>
            </a:r>
            <a:endParaRPr sz="2200">
              <a:solidFill>
                <a:schemeClr val="dk1"/>
              </a:solidFill>
            </a:endParaRPr>
          </a:p>
          <a:p>
            <a:pPr marL="457200" lvl="0" indent="0" algn="l" rtl="0">
              <a:spcBef>
                <a:spcPts val="0"/>
              </a:spcBef>
              <a:spcAft>
                <a:spcPts val="0"/>
              </a:spcAft>
              <a:buNone/>
            </a:pPr>
            <a:endParaRPr sz="2200">
              <a:solidFill>
                <a:schemeClr val="dk1"/>
              </a:solidFill>
            </a:endParaRPr>
          </a:p>
          <a:p>
            <a:pPr marL="457200" lvl="0" indent="-368300" algn="l" rtl="0">
              <a:spcBef>
                <a:spcPts val="0"/>
              </a:spcBef>
              <a:spcAft>
                <a:spcPts val="0"/>
              </a:spcAft>
              <a:buClr>
                <a:schemeClr val="dk1"/>
              </a:buClr>
              <a:buSzPts val="2200"/>
              <a:buChar char="●"/>
            </a:pPr>
            <a:r>
              <a:rPr lang="en-US" sz="2200">
                <a:solidFill>
                  <a:schemeClr val="dk1"/>
                </a:solidFill>
              </a:rPr>
              <a:t>Export: </a:t>
            </a:r>
            <a:endParaRPr sz="2200">
              <a:solidFill>
                <a:schemeClr val="dk1"/>
              </a:solidFill>
            </a:endParaRPr>
          </a:p>
          <a:p>
            <a:pPr marL="457200" lvl="0" indent="0" algn="l" rtl="0">
              <a:spcBef>
                <a:spcPts val="0"/>
              </a:spcBef>
              <a:spcAft>
                <a:spcPts val="0"/>
              </a:spcAft>
              <a:buNone/>
            </a:pPr>
            <a:r>
              <a:rPr lang="en-US" sz="2200">
                <a:solidFill>
                  <a:schemeClr val="dk1"/>
                </a:solidFill>
              </a:rPr>
              <a:t>Consumer Goods</a:t>
            </a:r>
            <a:endParaRPr sz="2200">
              <a:solidFill>
                <a:schemeClr val="dk1"/>
              </a:solidFill>
            </a:endParaRPr>
          </a:p>
          <a:p>
            <a:pPr marL="457200" lvl="0" indent="0" algn="l" rtl="0">
              <a:spcBef>
                <a:spcPts val="0"/>
              </a:spcBef>
              <a:spcAft>
                <a:spcPts val="0"/>
              </a:spcAft>
              <a:buNone/>
            </a:pPr>
            <a:r>
              <a:rPr lang="en-US" sz="2200">
                <a:solidFill>
                  <a:schemeClr val="dk1"/>
                </a:solidFill>
              </a:rPr>
              <a:t>Capital Goods</a:t>
            </a:r>
            <a:endParaRPr sz="2800">
              <a:solidFill>
                <a:schemeClr val="dk1"/>
              </a:solidFill>
            </a:endParaRPr>
          </a:p>
        </p:txBody>
      </p:sp>
      <p:sp>
        <p:nvSpPr>
          <p:cNvPr id="222" name="Google Shape;222;g3a44b44c33f_2_73"/>
          <p:cNvSpPr/>
          <p:nvPr/>
        </p:nvSpPr>
        <p:spPr>
          <a:xfrm>
            <a:off x="9266591" y="2974395"/>
            <a:ext cx="681600" cy="27171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3" name="Google Shape;223;g3a44b44c33f_2_73"/>
          <p:cNvSpPr/>
          <p:nvPr/>
        </p:nvSpPr>
        <p:spPr>
          <a:xfrm>
            <a:off x="10964652" y="4234270"/>
            <a:ext cx="681600" cy="14571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 name="Google Shape;224;g3a44b44c33f_2_73"/>
          <p:cNvSpPr/>
          <p:nvPr/>
        </p:nvSpPr>
        <p:spPr>
          <a:xfrm>
            <a:off x="5272157" y="5130509"/>
            <a:ext cx="681600" cy="5739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 name="Google Shape;225;g3a44b44c33f_2_73"/>
          <p:cNvSpPr/>
          <p:nvPr/>
        </p:nvSpPr>
        <p:spPr>
          <a:xfrm>
            <a:off x="6968145" y="4234320"/>
            <a:ext cx="681600" cy="14571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6"/>
          <p:cNvSpPr txBox="1">
            <a:spLocks noGrp="1"/>
          </p:cNvSpPr>
          <p:nvPr>
            <p:ph type="title"/>
          </p:nvPr>
        </p:nvSpPr>
        <p:spPr>
          <a:xfrm>
            <a:off x="243200" y="365125"/>
            <a:ext cx="115920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sz="3600"/>
              <a:t>Products Behind Trade Dependence Countries in Europe</a:t>
            </a:r>
            <a:endParaRPr sz="3600"/>
          </a:p>
        </p:txBody>
      </p:sp>
      <p:sp>
        <p:nvSpPr>
          <p:cNvPr id="231" name="Google Shape;231;p16"/>
          <p:cNvSpPr txBox="1"/>
          <p:nvPr/>
        </p:nvSpPr>
        <p:spPr>
          <a:xfrm>
            <a:off x="8400225" y="1647900"/>
            <a:ext cx="3599100" cy="356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solidFill>
                  <a:schemeClr val="dk1"/>
                </a:solidFill>
              </a:rPr>
              <a:t>Key Insights</a:t>
            </a:r>
            <a:endParaRPr sz="2200" b="1">
              <a:solidFill>
                <a:schemeClr val="dk1"/>
              </a:solidFill>
            </a:endParaRPr>
          </a:p>
          <a:p>
            <a:pPr marL="0" lvl="0" indent="0" algn="l" rtl="0">
              <a:spcBef>
                <a:spcPts val="0"/>
              </a:spcBef>
              <a:spcAft>
                <a:spcPts val="0"/>
              </a:spcAft>
              <a:buNone/>
            </a:pPr>
            <a:endParaRPr sz="2200" b="1">
              <a:solidFill>
                <a:schemeClr val="dk1"/>
              </a:solidFill>
            </a:endParaRPr>
          </a:p>
          <a:p>
            <a:pPr marL="457200" lvl="0" indent="-368300" algn="l" rtl="0">
              <a:spcBef>
                <a:spcPts val="0"/>
              </a:spcBef>
              <a:spcAft>
                <a:spcPts val="0"/>
              </a:spcAft>
              <a:buClr>
                <a:schemeClr val="dk1"/>
              </a:buClr>
              <a:buSzPts val="2200"/>
              <a:buChar char="●"/>
            </a:pPr>
            <a:r>
              <a:rPr lang="en-US" sz="2200">
                <a:solidFill>
                  <a:schemeClr val="dk1"/>
                </a:solidFill>
              </a:rPr>
              <a:t>Primary product: Capital Goods</a:t>
            </a:r>
            <a:endParaRPr sz="2200">
              <a:solidFill>
                <a:schemeClr val="dk1"/>
              </a:solidFill>
            </a:endParaRPr>
          </a:p>
          <a:p>
            <a:pPr marL="0" lvl="0" indent="0" algn="l" rtl="0">
              <a:spcBef>
                <a:spcPts val="0"/>
              </a:spcBef>
              <a:spcAft>
                <a:spcPts val="0"/>
              </a:spcAft>
              <a:buNone/>
            </a:pPr>
            <a:endParaRPr sz="2200">
              <a:solidFill>
                <a:schemeClr val="dk1"/>
              </a:solidFill>
            </a:endParaRPr>
          </a:p>
          <a:p>
            <a:pPr marL="457200" lvl="0" indent="-368300" algn="l" rtl="0">
              <a:spcBef>
                <a:spcPts val="0"/>
              </a:spcBef>
              <a:spcAft>
                <a:spcPts val="0"/>
              </a:spcAft>
              <a:buClr>
                <a:schemeClr val="dk1"/>
              </a:buClr>
              <a:buSzPts val="2200"/>
              <a:buChar char="●"/>
            </a:pPr>
            <a:r>
              <a:rPr lang="en-US" sz="2200">
                <a:solidFill>
                  <a:schemeClr val="dk1"/>
                </a:solidFill>
              </a:rPr>
              <a:t>Import: </a:t>
            </a:r>
            <a:endParaRPr sz="2200">
              <a:solidFill>
                <a:schemeClr val="dk1"/>
              </a:solidFill>
            </a:endParaRPr>
          </a:p>
          <a:p>
            <a:pPr marL="0" lvl="0" indent="457200" algn="l" rtl="0">
              <a:spcBef>
                <a:spcPts val="0"/>
              </a:spcBef>
              <a:spcAft>
                <a:spcPts val="0"/>
              </a:spcAft>
              <a:buNone/>
            </a:pPr>
            <a:r>
              <a:rPr lang="en-US" sz="2200">
                <a:solidFill>
                  <a:schemeClr val="dk1"/>
                </a:solidFill>
              </a:rPr>
              <a:t>Intermediate goods</a:t>
            </a:r>
            <a:endParaRPr sz="2200">
              <a:solidFill>
                <a:schemeClr val="dk1"/>
              </a:solidFill>
            </a:endParaRPr>
          </a:p>
          <a:p>
            <a:pPr marL="0" lvl="0" indent="0" algn="l" rtl="0">
              <a:spcBef>
                <a:spcPts val="0"/>
              </a:spcBef>
              <a:spcAft>
                <a:spcPts val="0"/>
              </a:spcAft>
              <a:buNone/>
            </a:pPr>
            <a:endParaRPr sz="2200">
              <a:solidFill>
                <a:schemeClr val="dk1"/>
              </a:solidFill>
            </a:endParaRPr>
          </a:p>
          <a:p>
            <a:pPr marL="457200" lvl="0" indent="-368300" algn="l" rtl="0">
              <a:spcBef>
                <a:spcPts val="0"/>
              </a:spcBef>
              <a:spcAft>
                <a:spcPts val="0"/>
              </a:spcAft>
              <a:buClr>
                <a:schemeClr val="dk1"/>
              </a:buClr>
              <a:buSzPts val="2200"/>
              <a:buChar char="●"/>
            </a:pPr>
            <a:r>
              <a:rPr lang="en-US" sz="2200">
                <a:solidFill>
                  <a:schemeClr val="dk1"/>
                </a:solidFill>
              </a:rPr>
              <a:t>Export: </a:t>
            </a:r>
            <a:endParaRPr sz="2200">
              <a:solidFill>
                <a:schemeClr val="dk1"/>
              </a:solidFill>
            </a:endParaRPr>
          </a:p>
          <a:p>
            <a:pPr marL="457200" lvl="0" indent="0" algn="l" rtl="0">
              <a:spcBef>
                <a:spcPts val="0"/>
              </a:spcBef>
              <a:spcAft>
                <a:spcPts val="0"/>
              </a:spcAft>
              <a:buNone/>
            </a:pPr>
            <a:r>
              <a:rPr lang="en-US" sz="2200">
                <a:solidFill>
                  <a:schemeClr val="dk1"/>
                </a:solidFill>
              </a:rPr>
              <a:t>Consumer goods</a:t>
            </a:r>
            <a:endParaRPr sz="2200">
              <a:solidFill>
                <a:schemeClr val="dk1"/>
              </a:solidFill>
            </a:endParaRPr>
          </a:p>
        </p:txBody>
      </p:sp>
      <p:pic>
        <p:nvPicPr>
          <p:cNvPr id="232" name="Google Shape;232;p16"/>
          <p:cNvPicPr preferRelativeResize="0"/>
          <p:nvPr/>
        </p:nvPicPr>
        <p:blipFill>
          <a:blip r:embed="rId3">
            <a:alphaModFix/>
          </a:blip>
          <a:stretch>
            <a:fillRect/>
          </a:stretch>
        </p:blipFill>
        <p:spPr>
          <a:xfrm>
            <a:off x="425713" y="2343281"/>
            <a:ext cx="7645800" cy="4162619"/>
          </a:xfrm>
          <a:prstGeom prst="rect">
            <a:avLst/>
          </a:prstGeom>
          <a:noFill/>
          <a:ln>
            <a:noFill/>
          </a:ln>
        </p:spPr>
      </p:pic>
      <p:sp>
        <p:nvSpPr>
          <p:cNvPr id="233" name="Google Shape;233;p16"/>
          <p:cNvSpPr/>
          <p:nvPr/>
        </p:nvSpPr>
        <p:spPr>
          <a:xfrm>
            <a:off x="6452944" y="3138489"/>
            <a:ext cx="1306200" cy="2692200"/>
          </a:xfrm>
          <a:prstGeom prst="rect">
            <a:avLst/>
          </a:prstGeom>
          <a:noFill/>
          <a:ln w="39075" cap="flat" cmpd="sng">
            <a:solidFill>
              <a:srgbClr val="FF0000"/>
            </a:solidFill>
            <a:prstDash val="solid"/>
            <a:round/>
            <a:headEnd type="none" w="sm" len="sm"/>
            <a:tailEnd type="none" w="sm" len="sm"/>
          </a:ln>
        </p:spPr>
        <p:txBody>
          <a:bodyPr spcFirstLastPara="1" wrap="square" lIns="93725" tIns="93725" rIns="93725" bIns="93725" anchor="ctr" anchorCtr="0">
            <a:noAutofit/>
          </a:bodyPr>
          <a:lstStyle/>
          <a:p>
            <a:pPr marL="0" lvl="0" indent="0" algn="ctr" rtl="0">
              <a:spcBef>
                <a:spcPts val="0"/>
              </a:spcBef>
              <a:spcAft>
                <a:spcPts val="0"/>
              </a:spcAft>
              <a:buNone/>
            </a:pPr>
            <a:endParaRPr sz="1435"/>
          </a:p>
        </p:txBody>
      </p:sp>
      <p:sp>
        <p:nvSpPr>
          <p:cNvPr id="234" name="Google Shape;234;p16"/>
          <p:cNvSpPr/>
          <p:nvPr/>
        </p:nvSpPr>
        <p:spPr>
          <a:xfrm>
            <a:off x="3118761" y="4458520"/>
            <a:ext cx="697200" cy="1359300"/>
          </a:xfrm>
          <a:prstGeom prst="rect">
            <a:avLst/>
          </a:prstGeom>
          <a:noFill/>
          <a:ln w="39075" cap="flat" cmpd="sng">
            <a:solidFill>
              <a:srgbClr val="FF0000"/>
            </a:solidFill>
            <a:prstDash val="solid"/>
            <a:round/>
            <a:headEnd type="none" w="sm" len="sm"/>
            <a:tailEnd type="none" w="sm" len="sm"/>
          </a:ln>
        </p:spPr>
        <p:txBody>
          <a:bodyPr spcFirstLastPara="1" wrap="square" lIns="93725" tIns="93725" rIns="93725" bIns="93725" anchor="ctr" anchorCtr="0">
            <a:noAutofit/>
          </a:bodyPr>
          <a:lstStyle/>
          <a:p>
            <a:pPr marL="0" lvl="0" indent="0" algn="ctr" rtl="0">
              <a:spcBef>
                <a:spcPts val="0"/>
              </a:spcBef>
              <a:spcAft>
                <a:spcPts val="0"/>
              </a:spcAft>
              <a:buNone/>
            </a:pPr>
            <a:endParaRPr sz="1435"/>
          </a:p>
        </p:txBody>
      </p:sp>
      <p:sp>
        <p:nvSpPr>
          <p:cNvPr id="235" name="Google Shape;235;p16"/>
          <p:cNvSpPr/>
          <p:nvPr/>
        </p:nvSpPr>
        <p:spPr>
          <a:xfrm>
            <a:off x="5379783" y="3418015"/>
            <a:ext cx="697200" cy="2412600"/>
          </a:xfrm>
          <a:prstGeom prst="rect">
            <a:avLst/>
          </a:prstGeom>
          <a:noFill/>
          <a:ln w="39075" cap="flat" cmpd="sng">
            <a:solidFill>
              <a:srgbClr val="FF0000"/>
            </a:solidFill>
            <a:prstDash val="solid"/>
            <a:round/>
            <a:headEnd type="none" w="sm" len="sm"/>
            <a:tailEnd type="none" w="sm" len="sm"/>
          </a:ln>
        </p:spPr>
        <p:txBody>
          <a:bodyPr spcFirstLastPara="1" wrap="square" lIns="93725" tIns="93725" rIns="93725" bIns="93725" anchor="ctr" anchorCtr="0">
            <a:noAutofit/>
          </a:bodyPr>
          <a:lstStyle/>
          <a:p>
            <a:pPr marL="0" lvl="0" indent="0" algn="ctr" rtl="0">
              <a:spcBef>
                <a:spcPts val="0"/>
              </a:spcBef>
              <a:spcAft>
                <a:spcPts val="0"/>
              </a:spcAft>
              <a:buNone/>
            </a:pPr>
            <a:endParaRPr sz="143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9"/>
        <p:cNvGrpSpPr/>
        <p:nvPr/>
      </p:nvGrpSpPr>
      <p:grpSpPr>
        <a:xfrm>
          <a:off x="0" y="0"/>
          <a:ext cx="0" cy="0"/>
          <a:chOff x="0" y="0"/>
          <a:chExt cx="0" cy="0"/>
        </a:xfrm>
      </p:grpSpPr>
      <p:sp>
        <p:nvSpPr>
          <p:cNvPr id="240" name="Google Shape;240;g3a44b44c33f_0_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1" name="Google Shape;241;g3a44b44c33f_0_0"/>
          <p:cNvSpPr/>
          <p:nvPr/>
        </p:nvSpPr>
        <p:spPr>
          <a:xfrm rot="10800000">
            <a:off x="-3" y="-22564"/>
            <a:ext cx="12192000" cy="4374000"/>
          </a:xfrm>
          <a:prstGeom prst="rect">
            <a:avLst/>
          </a:prstGeom>
          <a:gradFill>
            <a:gsLst>
              <a:gs pos="0">
                <a:srgbClr val="0F4861"/>
              </a:gs>
              <a:gs pos="100000">
                <a:srgbClr val="000000"/>
              </a:gs>
            </a:gsLst>
            <a:lin ang="1499992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2" name="Google Shape;242;g3a44b44c33f_0_0"/>
          <p:cNvSpPr/>
          <p:nvPr/>
        </p:nvSpPr>
        <p:spPr>
          <a:xfrm rot="5400000">
            <a:off x="3908698" y="-3931819"/>
            <a:ext cx="4374600" cy="12192000"/>
          </a:xfrm>
          <a:prstGeom prst="rect">
            <a:avLst/>
          </a:prstGeom>
          <a:gradFill>
            <a:gsLst>
              <a:gs pos="0">
                <a:srgbClr val="156082">
                  <a:alpha val="0"/>
                </a:srgbClr>
              </a:gs>
              <a:gs pos="40000">
                <a:srgbClr val="156082">
                  <a:alpha val="0"/>
                </a:srgbClr>
              </a:gs>
              <a:gs pos="100000">
                <a:srgbClr val="0F4861">
                  <a:alpha val="51764"/>
                </a:srgbClr>
              </a:gs>
            </a:gsLst>
            <a:lin ang="239989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3" name="Google Shape;243;g3a44b44c33f_0_0"/>
          <p:cNvSpPr/>
          <p:nvPr/>
        </p:nvSpPr>
        <p:spPr>
          <a:xfrm rot="5400000">
            <a:off x="4136699" y="-3703993"/>
            <a:ext cx="4374000" cy="11736600"/>
          </a:xfrm>
          <a:prstGeom prst="rect">
            <a:avLst/>
          </a:prstGeom>
          <a:gradFill>
            <a:gsLst>
              <a:gs pos="0">
                <a:srgbClr val="156082">
                  <a:alpha val="0"/>
                </a:srgbClr>
              </a:gs>
              <a:gs pos="17000">
                <a:srgbClr val="156082">
                  <a:alpha val="0"/>
                </a:srgbClr>
              </a:gs>
              <a:gs pos="100000">
                <a:srgbClr val="000000">
                  <a:alpha val="36862"/>
                </a:srgbClr>
              </a:gs>
            </a:gsLst>
            <a:lin ang="7799903"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4" name="Google Shape;244;g3a44b44c33f_0_0"/>
          <p:cNvSpPr/>
          <p:nvPr/>
        </p:nvSpPr>
        <p:spPr>
          <a:xfrm>
            <a:off x="-5" y="-22690"/>
            <a:ext cx="8542500" cy="4374000"/>
          </a:xfrm>
          <a:prstGeom prst="rect">
            <a:avLst/>
          </a:prstGeom>
          <a:gradFill>
            <a:gsLst>
              <a:gs pos="0">
                <a:srgbClr val="0A3041">
                  <a:alpha val="0"/>
                </a:srgbClr>
              </a:gs>
              <a:gs pos="100000">
                <a:srgbClr val="000000">
                  <a:alpha val="24705"/>
                </a:srgbClr>
              </a:gs>
            </a:gsLst>
            <a:lin ang="1859992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5" name="Google Shape;245;g3a44b44c33f_0_0"/>
          <p:cNvSpPr/>
          <p:nvPr/>
        </p:nvSpPr>
        <p:spPr>
          <a:xfrm rot="-9090908">
            <a:off x="5941176" y="-1038538"/>
            <a:ext cx="4996147" cy="4444469"/>
          </a:xfrm>
          <a:custGeom>
            <a:avLst/>
            <a:gdLst/>
            <a:ahLst/>
            <a:cxnLst/>
            <a:rect l="l" t="t" r="r" b="b"/>
            <a:pathLst>
              <a:path w="4990147" h="4439131" extrusionOk="0">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rgbClr val="156082">
                  <a:alpha val="21960"/>
                </a:srgbClr>
              </a:gs>
              <a:gs pos="87000">
                <a:srgbClr val="43AFE2">
                  <a:alpha val="1960"/>
                </a:srgbClr>
              </a:gs>
              <a:gs pos="100000">
                <a:srgbClr val="43AFE2">
                  <a:alpha val="1960"/>
                </a:srgbClr>
              </a:gs>
            </a:gsLst>
            <a:lin ang="840013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6" name="Google Shape;246;g3a44b44c33f_0_0"/>
          <p:cNvSpPr txBox="1">
            <a:spLocks noGrp="1"/>
          </p:cNvSpPr>
          <p:nvPr>
            <p:ph type="title"/>
          </p:nvPr>
        </p:nvSpPr>
        <p:spPr>
          <a:xfrm>
            <a:off x="1314824" y="735106"/>
            <a:ext cx="10053900" cy="29286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FFFF"/>
              </a:buClr>
              <a:buSzPts val="4800"/>
              <a:buFont typeface="Play"/>
              <a:buNone/>
            </a:pPr>
            <a:r>
              <a:rPr lang="en-US" sz="4800">
                <a:solidFill>
                  <a:srgbClr val="FFFFFF"/>
                </a:solidFill>
              </a:rPr>
              <a:t>Implications</a:t>
            </a:r>
            <a:endParaRPr sz="4800">
              <a:solidFill>
                <a:srgbClr val="FFFFFF"/>
              </a:solidFill>
              <a:latin typeface="Play"/>
              <a:ea typeface="Play"/>
              <a:cs typeface="Play"/>
              <a:sym typeface="Play"/>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8"/>
          <p:cNvSpPr txBox="1">
            <a:spLocks noGrp="1"/>
          </p:cNvSpPr>
          <p:nvPr>
            <p:ph type="title"/>
          </p:nvPr>
        </p:nvSpPr>
        <p:spPr>
          <a:xfrm>
            <a:off x="628250" y="365125"/>
            <a:ext cx="11241000" cy="871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sz="4000"/>
              <a:t>IMPLICATIONS FOR DECISION MAKERS </a:t>
            </a:r>
            <a:endParaRPr sz="4000"/>
          </a:p>
        </p:txBody>
      </p:sp>
      <p:sp>
        <p:nvSpPr>
          <p:cNvPr id="252" name="Google Shape;252;p8"/>
          <p:cNvSpPr txBox="1"/>
          <p:nvPr/>
        </p:nvSpPr>
        <p:spPr>
          <a:xfrm>
            <a:off x="767250" y="1236325"/>
            <a:ext cx="10291200" cy="1988700"/>
          </a:xfrm>
          <a:prstGeom prst="rect">
            <a:avLst/>
          </a:prstGeom>
          <a:noFill/>
          <a:ln>
            <a:noFill/>
          </a:ln>
        </p:spPr>
        <p:txBody>
          <a:bodyPr spcFirstLastPara="1" wrap="square" lIns="91425" tIns="45700" rIns="91425" bIns="45700" anchor="t" anchorCtr="0">
            <a:spAutoFit/>
          </a:bodyPr>
          <a:lstStyle/>
          <a:p>
            <a:pPr marL="457200" lvl="0" indent="-368300" algn="l" rtl="0">
              <a:lnSpc>
                <a:spcPct val="115000"/>
              </a:lnSpc>
              <a:spcBef>
                <a:spcPts val="0"/>
              </a:spcBef>
              <a:spcAft>
                <a:spcPts val="0"/>
              </a:spcAft>
              <a:buClr>
                <a:schemeClr val="dk1"/>
              </a:buClr>
              <a:buSzPts val="2200"/>
              <a:buChar char="●"/>
            </a:pPr>
            <a:r>
              <a:rPr lang="en-US" sz="2200">
                <a:solidFill>
                  <a:schemeClr val="dk1"/>
                </a:solidFill>
              </a:rPr>
              <a:t>Higher trade dependence = Higher risk of economic vulnerability</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a:solidFill>
                  <a:schemeClr val="dk1"/>
                </a:solidFill>
              </a:rPr>
              <a:t>Most economically vulnerable region:</a:t>
            </a:r>
            <a:endParaRPr sz="2200">
              <a:solidFill>
                <a:schemeClr val="dk1"/>
              </a:solidFill>
            </a:endParaRPr>
          </a:p>
          <a:p>
            <a:pPr marL="914400" lvl="1" indent="-368300" algn="l" rtl="0">
              <a:lnSpc>
                <a:spcPct val="115000"/>
              </a:lnSpc>
              <a:spcBef>
                <a:spcPts val="0"/>
              </a:spcBef>
              <a:spcAft>
                <a:spcPts val="0"/>
              </a:spcAft>
              <a:buClr>
                <a:schemeClr val="dk1"/>
              </a:buClr>
              <a:buSzPts val="2200"/>
              <a:buChar char="○"/>
            </a:pPr>
            <a:r>
              <a:rPr lang="en-US" sz="2200">
                <a:solidFill>
                  <a:schemeClr val="dk1"/>
                </a:solidFill>
              </a:rPr>
              <a:t>Europe - Slovakia, Slovenia and Hungary</a:t>
            </a:r>
            <a:endParaRPr sz="2200">
              <a:solidFill>
                <a:schemeClr val="dk1"/>
              </a:solidFill>
            </a:endParaRPr>
          </a:p>
          <a:p>
            <a:pPr marL="457200" lvl="0" indent="-368300" algn="l" rtl="0">
              <a:lnSpc>
                <a:spcPct val="115000"/>
              </a:lnSpc>
              <a:spcBef>
                <a:spcPts val="0"/>
              </a:spcBef>
              <a:spcAft>
                <a:spcPts val="0"/>
              </a:spcAft>
              <a:buClr>
                <a:schemeClr val="dk1"/>
              </a:buClr>
              <a:buSzPts val="2200"/>
              <a:buChar char="●"/>
            </a:pPr>
            <a:r>
              <a:rPr lang="en-US" sz="2200">
                <a:solidFill>
                  <a:schemeClr val="dk1"/>
                </a:solidFill>
              </a:rPr>
              <a:t>Source of economic vulnerability:</a:t>
            </a:r>
            <a:endParaRPr sz="2200">
              <a:solidFill>
                <a:schemeClr val="dk1"/>
              </a:solidFill>
            </a:endParaRPr>
          </a:p>
          <a:p>
            <a:pPr marL="914400" lvl="1" indent="-368300" algn="l" rtl="0">
              <a:lnSpc>
                <a:spcPct val="115000"/>
              </a:lnSpc>
              <a:spcBef>
                <a:spcPts val="0"/>
              </a:spcBef>
              <a:spcAft>
                <a:spcPts val="0"/>
              </a:spcAft>
              <a:buClr>
                <a:schemeClr val="dk1"/>
              </a:buClr>
              <a:buSzPts val="2200"/>
              <a:buChar char="○"/>
            </a:pPr>
            <a:r>
              <a:rPr lang="en-US" sz="2200">
                <a:solidFill>
                  <a:schemeClr val="dk1"/>
                </a:solidFill>
              </a:rPr>
              <a:t>Export of Consumer Goods</a:t>
            </a:r>
            <a:endParaRPr sz="2200">
              <a:solidFill>
                <a:schemeClr val="dk1"/>
              </a:solidFill>
            </a:endParaRPr>
          </a:p>
        </p:txBody>
      </p:sp>
      <p:sp>
        <p:nvSpPr>
          <p:cNvPr id="253" name="Google Shape;253;p8"/>
          <p:cNvSpPr txBox="1"/>
          <p:nvPr/>
        </p:nvSpPr>
        <p:spPr>
          <a:xfrm>
            <a:off x="475500" y="6092400"/>
            <a:ext cx="11241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chemeClr val="dk1"/>
                </a:solidFill>
              </a:rPr>
              <a:t>Recent debate: does higher trade dependence increases or decreases the risk of economic vulnerability?</a:t>
            </a:r>
            <a:endParaRPr sz="1800"/>
          </a:p>
        </p:txBody>
      </p:sp>
      <p:sp>
        <p:nvSpPr>
          <p:cNvPr id="254" name="Google Shape;254;p8"/>
          <p:cNvSpPr/>
          <p:nvPr/>
        </p:nvSpPr>
        <p:spPr>
          <a:xfrm>
            <a:off x="532721" y="3773963"/>
            <a:ext cx="11126543" cy="1219618"/>
          </a:xfrm>
          <a:prstGeom prst="rect">
            <a:avLst/>
          </a:prstGeom>
        </p:spPr>
        <p:txBody>
          <a:bodyPr>
            <a:prstTxWarp prst="textPlain">
              <a:avLst/>
            </a:prstTxWarp>
          </a:bodyPr>
          <a:lstStyle/>
          <a:p>
            <a:pPr lvl="0" algn="ctr"/>
            <a:r>
              <a:rPr b="1" i="0">
                <a:ln w="9525" cap="flat" cmpd="sng">
                  <a:solidFill>
                    <a:schemeClr val="dk2"/>
                  </a:solidFill>
                  <a:prstDash val="solid"/>
                  <a:round/>
                  <a:headEnd type="none" w="sm" len="sm"/>
                  <a:tailEnd type="none" w="sm" len="sm"/>
                </a:ln>
                <a:solidFill>
                  <a:schemeClr val="accent4"/>
                </a:solidFill>
                <a:latin typeface="Arial"/>
              </a:rPr>
              <a:t>Diversification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8"/>
        <p:cNvGrpSpPr/>
        <p:nvPr/>
      </p:nvGrpSpPr>
      <p:grpSpPr>
        <a:xfrm>
          <a:off x="0" y="0"/>
          <a:ext cx="0" cy="0"/>
          <a:chOff x="0" y="0"/>
          <a:chExt cx="0" cy="0"/>
        </a:xfrm>
      </p:grpSpPr>
      <p:sp>
        <p:nvSpPr>
          <p:cNvPr id="259" name="Google Shape;259;p1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0" name="Google Shape;260;p19"/>
          <p:cNvSpPr/>
          <p:nvPr/>
        </p:nvSpPr>
        <p:spPr>
          <a:xfrm rot="10800000">
            <a:off x="-2" y="-22693"/>
            <a:ext cx="12191999" cy="4374129"/>
          </a:xfrm>
          <a:prstGeom prst="rect">
            <a:avLst/>
          </a:prstGeom>
          <a:gradFill>
            <a:gsLst>
              <a:gs pos="0">
                <a:srgbClr val="0F4861"/>
              </a:gs>
              <a:gs pos="100000">
                <a:srgbClr val="000000"/>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1" name="Google Shape;261;p19"/>
          <p:cNvSpPr/>
          <p:nvPr/>
        </p:nvSpPr>
        <p:spPr>
          <a:xfrm rot="5400000">
            <a:off x="3908719" y="-3931841"/>
            <a:ext cx="4374557" cy="12192000"/>
          </a:xfrm>
          <a:prstGeom prst="rect">
            <a:avLst/>
          </a:prstGeom>
          <a:gradFill>
            <a:gsLst>
              <a:gs pos="0">
                <a:srgbClr val="156082">
                  <a:alpha val="0"/>
                </a:srgbClr>
              </a:gs>
              <a:gs pos="40000">
                <a:srgbClr val="156082">
                  <a:alpha val="0"/>
                </a:srgbClr>
              </a:gs>
              <a:gs pos="100000">
                <a:srgbClr val="0F4861">
                  <a:alpha val="51764"/>
                </a:srgbClr>
              </a:gs>
            </a:gsLst>
            <a:lin ang="2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2" name="Google Shape;262;p19"/>
          <p:cNvSpPr/>
          <p:nvPr/>
        </p:nvSpPr>
        <p:spPr>
          <a:xfrm rot="5400000">
            <a:off x="4136696" y="-3703868"/>
            <a:ext cx="4374128" cy="11736479"/>
          </a:xfrm>
          <a:prstGeom prst="rect">
            <a:avLst/>
          </a:prstGeom>
          <a:gradFill>
            <a:gsLst>
              <a:gs pos="0">
                <a:srgbClr val="156082">
                  <a:alpha val="0"/>
                </a:srgbClr>
              </a:gs>
              <a:gs pos="17000">
                <a:srgbClr val="156082">
                  <a:alpha val="0"/>
                </a:srgbClr>
              </a:gs>
              <a:gs pos="100000">
                <a:srgbClr val="000000">
                  <a:alpha val="36862"/>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3" name="Google Shape;263;p19"/>
          <p:cNvSpPr/>
          <p:nvPr/>
        </p:nvSpPr>
        <p:spPr>
          <a:xfrm>
            <a:off x="-5" y="-22690"/>
            <a:ext cx="8542485" cy="4374126"/>
          </a:xfrm>
          <a:prstGeom prst="rect">
            <a:avLst/>
          </a:prstGeom>
          <a:gradFill>
            <a:gsLst>
              <a:gs pos="0">
                <a:srgbClr val="0A3041">
                  <a:alpha val="0"/>
                </a:srgbClr>
              </a:gs>
              <a:gs pos="100000">
                <a:srgbClr val="000000">
                  <a:alpha val="24705"/>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4" name="Google Shape;264;p19"/>
          <p:cNvSpPr/>
          <p:nvPr/>
        </p:nvSpPr>
        <p:spPr>
          <a:xfrm rot="-9091028">
            <a:off x="5945431" y="-1032053"/>
            <a:ext cx="4990147" cy="4439131"/>
          </a:xfrm>
          <a:custGeom>
            <a:avLst/>
            <a:gdLst/>
            <a:ahLst/>
            <a:cxnLst/>
            <a:rect l="l" t="t" r="r" b="b"/>
            <a:pathLst>
              <a:path w="4990147" h="4439131" extrusionOk="0">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rgbClr val="156082">
                  <a:alpha val="21960"/>
                </a:srgbClr>
              </a:gs>
              <a:gs pos="87000">
                <a:srgbClr val="43AFE2">
                  <a:alpha val="1960"/>
                </a:srgbClr>
              </a:gs>
              <a:gs pos="100000">
                <a:srgbClr val="43AFE2">
                  <a:alpha val="196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65" name="Google Shape;265;p19"/>
          <p:cNvSpPr txBox="1">
            <a:spLocks noGrp="1"/>
          </p:cNvSpPr>
          <p:nvPr>
            <p:ph type="title"/>
          </p:nvPr>
        </p:nvSpPr>
        <p:spPr>
          <a:xfrm>
            <a:off x="1314824" y="735106"/>
            <a:ext cx="10053763" cy="292847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FFFF"/>
              </a:buClr>
              <a:buSzPts val="4800"/>
              <a:buFont typeface="Play"/>
              <a:buNone/>
            </a:pPr>
            <a:r>
              <a:rPr lang="en-US" sz="4800">
                <a:solidFill>
                  <a:srgbClr val="FFFFFF"/>
                </a:solidFill>
              </a:rPr>
              <a:t>Limitations</a:t>
            </a:r>
            <a:endParaRPr sz="4800">
              <a:solidFill>
                <a:srgbClr val="FFFFFF"/>
              </a:solidFill>
              <a:latin typeface="Play"/>
              <a:ea typeface="Play"/>
              <a:cs typeface="Play"/>
              <a:sym typeface="Play"/>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g3a44b44c33f_0_2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Limitation</a:t>
            </a:r>
            <a:endParaRPr/>
          </a:p>
        </p:txBody>
      </p:sp>
      <p:sp>
        <p:nvSpPr>
          <p:cNvPr id="271" name="Google Shape;271;g3a44b44c33f_0_20"/>
          <p:cNvSpPr txBox="1"/>
          <p:nvPr/>
        </p:nvSpPr>
        <p:spPr>
          <a:xfrm>
            <a:off x="838200" y="1505375"/>
            <a:ext cx="10515600" cy="1644000"/>
          </a:xfrm>
          <a:prstGeom prst="rect">
            <a:avLst/>
          </a:prstGeom>
          <a:noFill/>
          <a:ln>
            <a:noFill/>
          </a:ln>
        </p:spPr>
        <p:txBody>
          <a:bodyPr spcFirstLastPara="1" wrap="square" lIns="91425" tIns="45700" rIns="91425" bIns="45700" anchor="t" anchorCtr="0">
            <a:spAutoFit/>
          </a:bodyPr>
          <a:lstStyle/>
          <a:p>
            <a:pPr marL="457200" marR="0" lvl="0" indent="-342900" algn="l" rtl="0">
              <a:lnSpc>
                <a:spcPct val="115000"/>
              </a:lnSpc>
              <a:spcBef>
                <a:spcPts val="0"/>
              </a:spcBef>
              <a:spcAft>
                <a:spcPts val="0"/>
              </a:spcAft>
              <a:buClr>
                <a:schemeClr val="dk1"/>
              </a:buClr>
              <a:buSzPts val="1800"/>
              <a:buChar char="●"/>
            </a:pPr>
            <a:r>
              <a:rPr lang="en-US" sz="1800" b="1">
                <a:solidFill>
                  <a:schemeClr val="dk1"/>
                </a:solidFill>
              </a:rPr>
              <a:t>GDP dataset</a:t>
            </a:r>
            <a:r>
              <a:rPr lang="en-US" sz="1800">
                <a:solidFill>
                  <a:schemeClr val="dk1"/>
                </a:solidFill>
              </a:rPr>
              <a:t> only include only</a:t>
            </a:r>
            <a:r>
              <a:rPr lang="en-US" sz="1800" b="1">
                <a:solidFill>
                  <a:schemeClr val="dk1"/>
                </a:solidFill>
              </a:rPr>
              <a:t> data of 2020 </a:t>
            </a:r>
            <a:endParaRPr sz="1800">
              <a:solidFill>
                <a:schemeClr val="dk1"/>
              </a:solidFill>
            </a:endParaRPr>
          </a:p>
          <a:p>
            <a:pPr marL="914400" marR="0" lvl="1" indent="-342900" algn="l" rtl="0">
              <a:lnSpc>
                <a:spcPct val="115000"/>
              </a:lnSpc>
              <a:spcBef>
                <a:spcPts val="0"/>
              </a:spcBef>
              <a:spcAft>
                <a:spcPts val="0"/>
              </a:spcAft>
              <a:buClr>
                <a:schemeClr val="dk1"/>
              </a:buClr>
              <a:buSzPts val="1800"/>
              <a:buChar char="○"/>
            </a:pPr>
            <a:r>
              <a:rPr lang="en-US" sz="1800">
                <a:solidFill>
                  <a:schemeClr val="dk1"/>
                </a:solidFill>
              </a:rPr>
              <a:t>Unable to study patterns and make predictions.</a:t>
            </a:r>
            <a:endParaRPr sz="1800">
              <a:solidFill>
                <a:schemeClr val="dk1"/>
              </a:solidFill>
            </a:endParaRPr>
          </a:p>
          <a:p>
            <a:pPr marL="0" marR="0" lvl="0" indent="0" algn="l" rtl="0">
              <a:lnSpc>
                <a:spcPct val="115000"/>
              </a:lnSpc>
              <a:spcBef>
                <a:spcPts val="0"/>
              </a:spcBef>
              <a:spcAft>
                <a:spcPts val="0"/>
              </a:spcAft>
              <a:buNone/>
            </a:pPr>
            <a:endParaRPr sz="1800">
              <a:solidFill>
                <a:schemeClr val="dk1"/>
              </a:solidFill>
            </a:endParaRPr>
          </a:p>
          <a:p>
            <a:pPr marL="457200" marR="0" lvl="0" indent="-342900" algn="l" rtl="0">
              <a:lnSpc>
                <a:spcPct val="115000"/>
              </a:lnSpc>
              <a:spcBef>
                <a:spcPts val="0"/>
              </a:spcBef>
              <a:spcAft>
                <a:spcPts val="0"/>
              </a:spcAft>
              <a:buClr>
                <a:schemeClr val="dk1"/>
              </a:buClr>
              <a:buSzPts val="1800"/>
              <a:buChar char="●"/>
            </a:pPr>
            <a:r>
              <a:rPr lang="en-US" sz="1800">
                <a:solidFill>
                  <a:schemeClr val="dk1"/>
                </a:solidFill>
              </a:rPr>
              <a:t>Trade Dataset lacks information about </a:t>
            </a:r>
            <a:r>
              <a:rPr lang="en-US" sz="1800" b="1">
                <a:solidFill>
                  <a:schemeClr val="dk1"/>
                </a:solidFill>
              </a:rPr>
              <a:t>origin and destination</a:t>
            </a:r>
            <a:r>
              <a:rPr lang="en-US" sz="1800">
                <a:solidFill>
                  <a:schemeClr val="dk1"/>
                </a:solidFill>
              </a:rPr>
              <a:t> of trade flows </a:t>
            </a:r>
            <a:endParaRPr sz="1800">
              <a:solidFill>
                <a:schemeClr val="dk1"/>
              </a:solidFill>
            </a:endParaRPr>
          </a:p>
          <a:p>
            <a:pPr marL="914400" marR="0" lvl="1" indent="-342900" algn="l" rtl="0">
              <a:lnSpc>
                <a:spcPct val="115000"/>
              </a:lnSpc>
              <a:spcBef>
                <a:spcPts val="0"/>
              </a:spcBef>
              <a:spcAft>
                <a:spcPts val="0"/>
              </a:spcAft>
              <a:buClr>
                <a:schemeClr val="dk1"/>
              </a:buClr>
              <a:buSzPts val="1800"/>
              <a:buChar char="○"/>
            </a:pPr>
            <a:r>
              <a:rPr lang="en-US" sz="1800">
                <a:solidFill>
                  <a:schemeClr val="dk1"/>
                </a:solidFill>
              </a:rPr>
              <a:t>Unable to explore countries’ supply chain vulnerability.</a:t>
            </a:r>
            <a:endParaRPr sz="1800">
              <a:solidFill>
                <a:schemeClr val="dk1"/>
              </a:solidFill>
            </a:endParaRPr>
          </a:p>
        </p:txBody>
      </p:sp>
      <p:sp>
        <p:nvSpPr>
          <p:cNvPr id="272" name="Google Shape;272;g3a44b44c33f_0_20"/>
          <p:cNvSpPr txBox="1">
            <a:spLocks noGrp="1"/>
          </p:cNvSpPr>
          <p:nvPr>
            <p:ph type="title"/>
          </p:nvPr>
        </p:nvSpPr>
        <p:spPr>
          <a:xfrm>
            <a:off x="838200" y="3140325"/>
            <a:ext cx="10515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a:t>Future Study with Web Scraping</a:t>
            </a:r>
            <a:endParaRPr/>
          </a:p>
        </p:txBody>
      </p:sp>
      <p:sp>
        <p:nvSpPr>
          <p:cNvPr id="273" name="Google Shape;273;g3a44b44c33f_0_20"/>
          <p:cNvSpPr txBox="1"/>
          <p:nvPr/>
        </p:nvSpPr>
        <p:spPr>
          <a:xfrm>
            <a:off x="838200" y="4466025"/>
            <a:ext cx="10987800" cy="10989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1200"/>
              </a:spcBef>
              <a:spcAft>
                <a:spcPts val="0"/>
              </a:spcAft>
              <a:buClr>
                <a:schemeClr val="dk1"/>
              </a:buClr>
              <a:buSzPts val="1400"/>
              <a:buAutoNum type="arabicPeriod"/>
            </a:pPr>
            <a:r>
              <a:rPr lang="en-US" sz="1800">
                <a:solidFill>
                  <a:schemeClr val="dk1"/>
                </a:solidFill>
              </a:rPr>
              <a:t>Investigate the trend of trade dependency and effects of the pandemic. </a:t>
            </a:r>
            <a:endParaRPr sz="1800">
              <a:solidFill>
                <a:schemeClr val="dk1"/>
              </a:solidFill>
            </a:endParaRPr>
          </a:p>
          <a:p>
            <a:pPr marL="457200" lvl="0" indent="-317500" algn="l" rtl="0">
              <a:lnSpc>
                <a:spcPct val="115000"/>
              </a:lnSpc>
              <a:spcBef>
                <a:spcPts val="0"/>
              </a:spcBef>
              <a:spcAft>
                <a:spcPts val="0"/>
              </a:spcAft>
              <a:buClr>
                <a:schemeClr val="dk1"/>
              </a:buClr>
              <a:buSzPts val="1400"/>
              <a:buAutoNum type="arabicPeriod"/>
            </a:pPr>
            <a:r>
              <a:rPr lang="en-US" sz="1800">
                <a:solidFill>
                  <a:schemeClr val="dk1"/>
                </a:solidFill>
              </a:rPr>
              <a:t>Investigate </a:t>
            </a:r>
            <a:r>
              <a:rPr lang="en-US" sz="1800" b="1">
                <a:solidFill>
                  <a:schemeClr val="dk1"/>
                </a:solidFill>
              </a:rPr>
              <a:t>global supply chain disruptions</a:t>
            </a:r>
            <a:r>
              <a:rPr lang="en-US" sz="1800">
                <a:solidFill>
                  <a:schemeClr val="dk1"/>
                </a:solidFill>
              </a:rPr>
              <a:t> impact on trade dependency.</a:t>
            </a:r>
            <a:endParaRPr sz="1800">
              <a:solidFill>
                <a:schemeClr val="dk1"/>
              </a:solidFill>
            </a:endParaRPr>
          </a:p>
          <a:p>
            <a:pPr marL="457200" lvl="0" indent="-317500" algn="l" rtl="0">
              <a:lnSpc>
                <a:spcPct val="115000"/>
              </a:lnSpc>
              <a:spcBef>
                <a:spcPts val="0"/>
              </a:spcBef>
              <a:spcAft>
                <a:spcPts val="0"/>
              </a:spcAft>
              <a:buClr>
                <a:schemeClr val="dk1"/>
              </a:buClr>
              <a:buSzPts val="1400"/>
              <a:buAutoNum type="arabicPeriod"/>
            </a:pPr>
            <a:r>
              <a:rPr lang="en-US" sz="1800">
                <a:solidFill>
                  <a:schemeClr val="dk1"/>
                </a:solidFill>
              </a:rPr>
              <a:t>Provide </a:t>
            </a:r>
            <a:r>
              <a:rPr lang="en-US" sz="1800" b="1">
                <a:solidFill>
                  <a:schemeClr val="dk1"/>
                </a:solidFill>
              </a:rPr>
              <a:t>insights into economic resilience strategies</a:t>
            </a:r>
            <a:r>
              <a:rPr lang="en-US" sz="1800">
                <a:solidFill>
                  <a:schemeClr val="dk1"/>
                </a:solidFill>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0"/>
          <p:cNvSpPr txBox="1"/>
          <p:nvPr/>
        </p:nvSpPr>
        <p:spPr>
          <a:xfrm>
            <a:off x="625642" y="1690688"/>
            <a:ext cx="107283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a:p>
            <a:pPr marL="0" marR="0" lvl="0" indent="0" algn="l" rtl="0">
              <a:spcBef>
                <a:spcPts val="0"/>
              </a:spcBef>
              <a:spcAft>
                <a:spcPts val="0"/>
              </a:spcAft>
              <a:buNone/>
            </a:pPr>
            <a:endParaRPr/>
          </a:p>
        </p:txBody>
      </p:sp>
      <p:sp>
        <p:nvSpPr>
          <p:cNvPr id="279" name="Google Shape;279;p20"/>
          <p:cNvSpPr txBox="1"/>
          <p:nvPr/>
        </p:nvSpPr>
        <p:spPr>
          <a:xfrm>
            <a:off x="904000" y="1576825"/>
            <a:ext cx="10449900" cy="1420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en-US">
                <a:solidFill>
                  <a:schemeClr val="dk1"/>
                </a:solidFill>
              </a:rPr>
              <a:t>Step 1: Data Retrieval</a:t>
            </a:r>
            <a:endParaRPr>
              <a:solidFill>
                <a:schemeClr val="dk1"/>
              </a:solidFill>
            </a:endParaRPr>
          </a:p>
          <a:p>
            <a:pPr marL="457200" lvl="0" indent="-317500" algn="l" rtl="0">
              <a:lnSpc>
                <a:spcPct val="115000"/>
              </a:lnSpc>
              <a:spcBef>
                <a:spcPts val="1200"/>
              </a:spcBef>
              <a:spcAft>
                <a:spcPts val="0"/>
              </a:spcAft>
              <a:buClr>
                <a:schemeClr val="dk1"/>
              </a:buClr>
              <a:buSzPts val="1400"/>
              <a:buChar char="●"/>
            </a:pPr>
            <a:r>
              <a:rPr lang="en-US">
                <a:solidFill>
                  <a:schemeClr val="dk1"/>
                </a:solidFill>
              </a:rPr>
              <a:t>Scraped</a:t>
            </a:r>
            <a:r>
              <a:rPr lang="en-US" b="1">
                <a:solidFill>
                  <a:schemeClr val="dk1"/>
                </a:solidFill>
              </a:rPr>
              <a:t> GDP time-series data</a:t>
            </a:r>
            <a:r>
              <a:rPr lang="en-US">
                <a:solidFill>
                  <a:schemeClr val="dk1"/>
                </a:solidFill>
              </a:rPr>
              <a:t> (2005–2023) from the World Bank API, aligned with the time frame of the International Trade dataset. Saved the data as a structured DataFrame for analysis.</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US">
                <a:solidFill>
                  <a:schemeClr val="dk1"/>
                </a:solidFill>
              </a:rPr>
              <a:t>The “</a:t>
            </a:r>
            <a:r>
              <a:rPr lang="en-US" b="1">
                <a:solidFill>
                  <a:schemeClr val="dk1"/>
                </a:solidFill>
              </a:rPr>
              <a:t>Requests</a:t>
            </a:r>
            <a:r>
              <a:rPr lang="en-US">
                <a:solidFill>
                  <a:schemeClr val="dk1"/>
                </a:solidFill>
              </a:rPr>
              <a:t>” and “</a:t>
            </a:r>
            <a:r>
              <a:rPr lang="en-US" b="1">
                <a:solidFill>
                  <a:schemeClr val="dk1"/>
                </a:solidFill>
              </a:rPr>
              <a:t>Response</a:t>
            </a:r>
            <a:r>
              <a:rPr lang="en-US">
                <a:solidFill>
                  <a:schemeClr val="dk1"/>
                </a:solidFill>
              </a:rPr>
              <a:t>” method using the API for WDI indicators.  </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US">
                <a:solidFill>
                  <a:schemeClr val="dk1"/>
                </a:solidFill>
              </a:rPr>
              <a:t>Declare the parameters, indicator and countries </a:t>
            </a:r>
            <a:endParaRPr>
              <a:solidFill>
                <a:schemeClr val="dk1"/>
              </a:solidFill>
            </a:endParaRPr>
          </a:p>
        </p:txBody>
      </p:sp>
      <p:sp>
        <p:nvSpPr>
          <p:cNvPr id="280" name="Google Shape;280;p2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Web scraping Plan</a:t>
            </a:r>
            <a:endParaRPr/>
          </a:p>
        </p:txBody>
      </p:sp>
      <p:pic>
        <p:nvPicPr>
          <p:cNvPr id="281" name="Google Shape;281;p20"/>
          <p:cNvPicPr preferRelativeResize="0"/>
          <p:nvPr/>
        </p:nvPicPr>
        <p:blipFill>
          <a:blip r:embed="rId3">
            <a:alphaModFix/>
          </a:blip>
          <a:stretch>
            <a:fillRect/>
          </a:stretch>
        </p:blipFill>
        <p:spPr>
          <a:xfrm>
            <a:off x="477300" y="3165125"/>
            <a:ext cx="11237401" cy="2219150"/>
          </a:xfrm>
          <a:prstGeom prst="rect">
            <a:avLst/>
          </a:prstGeom>
          <a:noFill/>
          <a:ln>
            <a:noFill/>
          </a:ln>
        </p:spPr>
      </p:pic>
      <p:sp>
        <p:nvSpPr>
          <p:cNvPr id="282" name="Google Shape;282;p20"/>
          <p:cNvSpPr/>
          <p:nvPr/>
        </p:nvSpPr>
        <p:spPr>
          <a:xfrm>
            <a:off x="1207650" y="3816700"/>
            <a:ext cx="2453100" cy="156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3" name="Google Shape;283;p20"/>
          <p:cNvSpPr/>
          <p:nvPr/>
        </p:nvSpPr>
        <p:spPr>
          <a:xfrm>
            <a:off x="1151825" y="3973000"/>
            <a:ext cx="2196300" cy="156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4" name="Google Shape;284;p20"/>
          <p:cNvSpPr/>
          <p:nvPr/>
        </p:nvSpPr>
        <p:spPr>
          <a:xfrm>
            <a:off x="1151825" y="4352850"/>
            <a:ext cx="1647000" cy="156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5" name="Google Shape;285;p20"/>
          <p:cNvSpPr/>
          <p:nvPr/>
        </p:nvSpPr>
        <p:spPr>
          <a:xfrm>
            <a:off x="1151825" y="4162925"/>
            <a:ext cx="1697700" cy="156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6" name="Google Shape;286;p20"/>
          <p:cNvSpPr/>
          <p:nvPr/>
        </p:nvSpPr>
        <p:spPr>
          <a:xfrm>
            <a:off x="1207650" y="4509150"/>
            <a:ext cx="1812600" cy="1563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7" name="Google Shape;287;p20"/>
          <p:cNvSpPr txBox="1"/>
          <p:nvPr/>
        </p:nvSpPr>
        <p:spPr>
          <a:xfrm>
            <a:off x="625650" y="5551775"/>
            <a:ext cx="5937000" cy="9249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en-US">
                <a:solidFill>
                  <a:schemeClr val="dk1"/>
                </a:solidFill>
              </a:rPr>
              <a:t>Step 2: Data transformation and merging </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US">
                <a:solidFill>
                  <a:schemeClr val="dk1"/>
                </a:solidFill>
              </a:rPr>
              <a:t>The GDP data needs to be transformed into the Billions ($USD)  </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US">
                <a:solidFill>
                  <a:schemeClr val="dk1"/>
                </a:solidFill>
              </a:rPr>
              <a:t>Matching with the values based on the Iso3 Country code and year</a:t>
            </a:r>
            <a:endParaRPr>
              <a:solidFill>
                <a:schemeClr val="dk1"/>
              </a:solidFill>
            </a:endParaRPr>
          </a:p>
        </p:txBody>
      </p:sp>
      <p:cxnSp>
        <p:nvCxnSpPr>
          <p:cNvPr id="288" name="Google Shape;288;p20"/>
          <p:cNvCxnSpPr/>
          <p:nvPr/>
        </p:nvCxnSpPr>
        <p:spPr>
          <a:xfrm rot="10800000" flipH="1">
            <a:off x="8280300" y="2940625"/>
            <a:ext cx="595500" cy="369600"/>
          </a:xfrm>
          <a:prstGeom prst="straightConnector1">
            <a:avLst/>
          </a:prstGeom>
          <a:noFill/>
          <a:ln w="9525" cap="flat" cmpd="sng">
            <a:solidFill>
              <a:schemeClr val="dk2"/>
            </a:solidFill>
            <a:prstDash val="solid"/>
            <a:round/>
            <a:headEnd type="none" w="med" len="med"/>
            <a:tailEnd type="triangle" w="med" len="med"/>
          </a:ln>
        </p:spPr>
      </p:cxnSp>
      <p:sp>
        <p:nvSpPr>
          <p:cNvPr id="289" name="Google Shape;289;p20"/>
          <p:cNvSpPr txBox="1"/>
          <p:nvPr/>
        </p:nvSpPr>
        <p:spPr>
          <a:xfrm>
            <a:off x="5273825" y="4074425"/>
            <a:ext cx="3963000" cy="5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rPr>
              <a:t>Datapoints extracted </a:t>
            </a:r>
            <a:endParaRPr sz="2800">
              <a:solidFill>
                <a:schemeClr val="dk1"/>
              </a:solidFill>
            </a:endParaRPr>
          </a:p>
        </p:txBody>
      </p:sp>
      <p:cxnSp>
        <p:nvCxnSpPr>
          <p:cNvPr id="290" name="Google Shape;290;p20"/>
          <p:cNvCxnSpPr>
            <a:stCxn id="282" idx="3"/>
            <a:endCxn id="289" idx="1"/>
          </p:cNvCxnSpPr>
          <p:nvPr/>
        </p:nvCxnSpPr>
        <p:spPr>
          <a:xfrm>
            <a:off x="3660750" y="3894850"/>
            <a:ext cx="1613100" cy="441300"/>
          </a:xfrm>
          <a:prstGeom prst="straightConnector1">
            <a:avLst/>
          </a:prstGeom>
          <a:noFill/>
          <a:ln w="9525" cap="flat" cmpd="sng">
            <a:solidFill>
              <a:schemeClr val="dk2"/>
            </a:solidFill>
            <a:prstDash val="solid"/>
            <a:round/>
            <a:headEnd type="none" w="med" len="med"/>
            <a:tailEnd type="triangle" w="med" len="med"/>
          </a:ln>
        </p:spPr>
      </p:cxnSp>
      <p:cxnSp>
        <p:nvCxnSpPr>
          <p:cNvPr id="291" name="Google Shape;291;p20"/>
          <p:cNvCxnSpPr>
            <a:endCxn id="289" idx="1"/>
          </p:cNvCxnSpPr>
          <p:nvPr/>
        </p:nvCxnSpPr>
        <p:spPr>
          <a:xfrm>
            <a:off x="3350525" y="3911825"/>
            <a:ext cx="1923300" cy="424200"/>
          </a:xfrm>
          <a:prstGeom prst="straightConnector1">
            <a:avLst/>
          </a:prstGeom>
          <a:noFill/>
          <a:ln w="9525" cap="flat" cmpd="sng">
            <a:solidFill>
              <a:schemeClr val="dk2"/>
            </a:solidFill>
            <a:prstDash val="solid"/>
            <a:round/>
            <a:headEnd type="none" w="med" len="med"/>
            <a:tailEnd type="triangle" w="med" len="med"/>
          </a:ln>
        </p:spPr>
      </p:cxnSp>
      <p:cxnSp>
        <p:nvCxnSpPr>
          <p:cNvPr id="292" name="Google Shape;292;p20"/>
          <p:cNvCxnSpPr>
            <a:stCxn id="285" idx="3"/>
            <a:endCxn id="289" idx="1"/>
          </p:cNvCxnSpPr>
          <p:nvPr/>
        </p:nvCxnSpPr>
        <p:spPr>
          <a:xfrm>
            <a:off x="2849525" y="4241075"/>
            <a:ext cx="2424300" cy="95100"/>
          </a:xfrm>
          <a:prstGeom prst="straightConnector1">
            <a:avLst/>
          </a:prstGeom>
          <a:noFill/>
          <a:ln w="9525" cap="flat" cmpd="sng">
            <a:solidFill>
              <a:schemeClr val="dk2"/>
            </a:solidFill>
            <a:prstDash val="solid"/>
            <a:round/>
            <a:headEnd type="none" w="med" len="med"/>
            <a:tailEnd type="triangle" w="med" len="med"/>
          </a:ln>
        </p:spPr>
      </p:cxnSp>
      <p:cxnSp>
        <p:nvCxnSpPr>
          <p:cNvPr id="293" name="Google Shape;293;p20"/>
          <p:cNvCxnSpPr>
            <a:stCxn id="286" idx="3"/>
            <a:endCxn id="289" idx="1"/>
          </p:cNvCxnSpPr>
          <p:nvPr/>
        </p:nvCxnSpPr>
        <p:spPr>
          <a:xfrm rot="10800000" flipH="1">
            <a:off x="3020250" y="4335900"/>
            <a:ext cx="2253600" cy="251400"/>
          </a:xfrm>
          <a:prstGeom prst="straightConnector1">
            <a:avLst/>
          </a:prstGeom>
          <a:noFill/>
          <a:ln w="9525" cap="flat" cmpd="sng">
            <a:solidFill>
              <a:schemeClr val="dk2"/>
            </a:solidFill>
            <a:prstDash val="solid"/>
            <a:round/>
            <a:headEnd type="none" w="med" len="med"/>
            <a:tailEnd type="triangle" w="med" len="med"/>
          </a:ln>
        </p:spPr>
      </p:cxnSp>
      <p:cxnSp>
        <p:nvCxnSpPr>
          <p:cNvPr id="294" name="Google Shape;294;p20"/>
          <p:cNvCxnSpPr>
            <a:endCxn id="289" idx="1"/>
          </p:cNvCxnSpPr>
          <p:nvPr/>
        </p:nvCxnSpPr>
        <p:spPr>
          <a:xfrm rot="10800000" flipH="1">
            <a:off x="2861225" y="4336025"/>
            <a:ext cx="2412600" cy="35400"/>
          </a:xfrm>
          <a:prstGeom prst="straightConnector1">
            <a:avLst/>
          </a:prstGeom>
          <a:noFill/>
          <a:ln w="9525" cap="flat" cmpd="sng">
            <a:solidFill>
              <a:schemeClr val="dk2"/>
            </a:solidFill>
            <a:prstDash val="solid"/>
            <a:round/>
            <a:headEnd type="none" w="med" len="med"/>
            <a:tailEnd type="triangle" w="med" len="med"/>
          </a:ln>
        </p:spPr>
      </p:cxnSp>
      <p:sp>
        <p:nvSpPr>
          <p:cNvPr id="295" name="Google Shape;295;p20"/>
          <p:cNvSpPr txBox="1"/>
          <p:nvPr/>
        </p:nvSpPr>
        <p:spPr>
          <a:xfrm>
            <a:off x="8875800" y="2474425"/>
            <a:ext cx="3316200" cy="5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rPr>
              <a:t>Base api url Json</a:t>
            </a:r>
            <a:endParaRPr sz="2800">
              <a:solidFill>
                <a:schemeClr val="dk1"/>
              </a:solidFill>
            </a:endParaRPr>
          </a:p>
        </p:txBody>
      </p:sp>
      <p:sp>
        <p:nvSpPr>
          <p:cNvPr id="296" name="Google Shape;296;p20"/>
          <p:cNvSpPr/>
          <p:nvPr/>
        </p:nvSpPr>
        <p:spPr>
          <a:xfrm>
            <a:off x="6142775" y="4733200"/>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Country</a:t>
            </a:r>
            <a:endParaRPr sz="1223"/>
          </a:p>
        </p:txBody>
      </p:sp>
      <p:sp>
        <p:nvSpPr>
          <p:cNvPr id="297" name="Google Shape;297;p20"/>
          <p:cNvSpPr/>
          <p:nvPr/>
        </p:nvSpPr>
        <p:spPr>
          <a:xfrm>
            <a:off x="6142775" y="5036735"/>
            <a:ext cx="1938600" cy="303600"/>
          </a:xfrm>
          <a:prstGeom prst="rect">
            <a:avLst/>
          </a:prstGeom>
          <a:solidFill>
            <a:srgbClr val="D9EAD3"/>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Country_Code</a:t>
            </a:r>
            <a:endParaRPr sz="1223"/>
          </a:p>
        </p:txBody>
      </p:sp>
      <p:sp>
        <p:nvSpPr>
          <p:cNvPr id="298" name="Google Shape;298;p20"/>
          <p:cNvSpPr/>
          <p:nvPr/>
        </p:nvSpPr>
        <p:spPr>
          <a:xfrm>
            <a:off x="9822425" y="4733188"/>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Country</a:t>
            </a:r>
            <a:endParaRPr sz="1223"/>
          </a:p>
        </p:txBody>
      </p:sp>
      <p:sp>
        <p:nvSpPr>
          <p:cNvPr id="299" name="Google Shape;299;p20"/>
          <p:cNvSpPr/>
          <p:nvPr/>
        </p:nvSpPr>
        <p:spPr>
          <a:xfrm>
            <a:off x="9822425" y="5340258"/>
            <a:ext cx="1938600" cy="303600"/>
          </a:xfrm>
          <a:prstGeom prst="rect">
            <a:avLst/>
          </a:prstGeom>
          <a:solidFill>
            <a:srgbClr val="D9EAD3"/>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marR="0" lvl="0" indent="0" algn="ctr" rtl="0">
              <a:lnSpc>
                <a:spcPct val="100000"/>
              </a:lnSpc>
              <a:spcBef>
                <a:spcPts val="0"/>
              </a:spcBef>
              <a:spcAft>
                <a:spcPts val="0"/>
              </a:spcAft>
              <a:buNone/>
            </a:pPr>
            <a:r>
              <a:rPr lang="en-US" sz="1223"/>
              <a:t>Year</a:t>
            </a:r>
            <a:endParaRPr sz="1223"/>
          </a:p>
        </p:txBody>
      </p:sp>
      <p:sp>
        <p:nvSpPr>
          <p:cNvPr id="300" name="Google Shape;300;p20"/>
          <p:cNvSpPr/>
          <p:nvPr/>
        </p:nvSpPr>
        <p:spPr>
          <a:xfrm>
            <a:off x="9822425" y="5643793"/>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Export Value </a:t>
            </a:r>
            <a:r>
              <a:rPr lang="en-US" sz="1223">
                <a:solidFill>
                  <a:schemeClr val="dk1"/>
                </a:solidFill>
              </a:rPr>
              <a:t>($USD)</a:t>
            </a:r>
            <a:endParaRPr sz="1223"/>
          </a:p>
        </p:txBody>
      </p:sp>
      <p:sp>
        <p:nvSpPr>
          <p:cNvPr id="301" name="Google Shape;301;p20"/>
          <p:cNvSpPr/>
          <p:nvPr/>
        </p:nvSpPr>
        <p:spPr>
          <a:xfrm>
            <a:off x="9822425" y="5947328"/>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Import Value </a:t>
            </a:r>
            <a:r>
              <a:rPr lang="en-US" sz="1223">
                <a:solidFill>
                  <a:schemeClr val="dk1"/>
                </a:solidFill>
              </a:rPr>
              <a:t>($USD)</a:t>
            </a:r>
            <a:endParaRPr sz="1223"/>
          </a:p>
        </p:txBody>
      </p:sp>
      <p:sp>
        <p:nvSpPr>
          <p:cNvPr id="302" name="Google Shape;302;p20"/>
          <p:cNvSpPr/>
          <p:nvPr/>
        </p:nvSpPr>
        <p:spPr>
          <a:xfrm>
            <a:off x="9822425" y="5036723"/>
            <a:ext cx="1938600" cy="303600"/>
          </a:xfrm>
          <a:prstGeom prst="rect">
            <a:avLst/>
          </a:prstGeom>
          <a:solidFill>
            <a:srgbClr val="D9EAD3"/>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Country_Code</a:t>
            </a:r>
            <a:endParaRPr sz="1223"/>
          </a:p>
        </p:txBody>
      </p:sp>
      <p:sp>
        <p:nvSpPr>
          <p:cNvPr id="303" name="Google Shape;303;p20"/>
          <p:cNvSpPr/>
          <p:nvPr/>
        </p:nvSpPr>
        <p:spPr>
          <a:xfrm>
            <a:off x="9822425" y="6250853"/>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Total Trade </a:t>
            </a:r>
            <a:r>
              <a:rPr lang="en-US" sz="1223">
                <a:solidFill>
                  <a:schemeClr val="dk1"/>
                </a:solidFill>
              </a:rPr>
              <a:t>($USD)</a:t>
            </a:r>
            <a:endParaRPr sz="1223"/>
          </a:p>
        </p:txBody>
      </p:sp>
      <p:sp>
        <p:nvSpPr>
          <p:cNvPr id="304" name="Google Shape;304;p20"/>
          <p:cNvSpPr/>
          <p:nvPr/>
        </p:nvSpPr>
        <p:spPr>
          <a:xfrm>
            <a:off x="9822425" y="6554402"/>
            <a:ext cx="1938600" cy="303600"/>
          </a:xfrm>
          <a:prstGeom prst="rect">
            <a:avLst/>
          </a:prstGeom>
          <a:solidFill>
            <a:schemeClr val="lt2"/>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Trade Balance </a:t>
            </a:r>
            <a:r>
              <a:rPr lang="en-US" sz="1223">
                <a:solidFill>
                  <a:schemeClr val="dk1"/>
                </a:solidFill>
              </a:rPr>
              <a:t>($USD)</a:t>
            </a:r>
            <a:endParaRPr sz="1223"/>
          </a:p>
        </p:txBody>
      </p:sp>
      <p:cxnSp>
        <p:nvCxnSpPr>
          <p:cNvPr id="305" name="Google Shape;305;p20"/>
          <p:cNvCxnSpPr/>
          <p:nvPr/>
        </p:nvCxnSpPr>
        <p:spPr>
          <a:xfrm>
            <a:off x="8081375" y="5311735"/>
            <a:ext cx="1741200" cy="0"/>
          </a:xfrm>
          <a:prstGeom prst="straightConnector1">
            <a:avLst/>
          </a:prstGeom>
          <a:noFill/>
          <a:ln w="9525" cap="flat" cmpd="sng">
            <a:solidFill>
              <a:schemeClr val="dk2"/>
            </a:solidFill>
            <a:prstDash val="solid"/>
            <a:round/>
            <a:headEnd type="stealth" w="med" len="med"/>
            <a:tailEnd type="stealth" w="med" len="med"/>
          </a:ln>
        </p:spPr>
      </p:cxnSp>
      <p:sp>
        <p:nvSpPr>
          <p:cNvPr id="306" name="Google Shape;306;p20"/>
          <p:cNvSpPr/>
          <p:nvPr/>
        </p:nvSpPr>
        <p:spPr>
          <a:xfrm>
            <a:off x="6142775" y="5340260"/>
            <a:ext cx="1938600" cy="303600"/>
          </a:xfrm>
          <a:prstGeom prst="rect">
            <a:avLst/>
          </a:prstGeom>
          <a:solidFill>
            <a:srgbClr val="D9EAD3"/>
          </a:solidFill>
          <a:ln w="8325" cap="flat" cmpd="sng">
            <a:solidFill>
              <a:schemeClr val="dk2"/>
            </a:solidFill>
            <a:prstDash val="solid"/>
            <a:round/>
            <a:headEnd type="none" w="sm" len="sm"/>
            <a:tailEnd type="none" w="sm" len="sm"/>
          </a:ln>
        </p:spPr>
        <p:txBody>
          <a:bodyPr spcFirstLastPara="1" wrap="square" lIns="79875" tIns="79875" rIns="79875" bIns="79875" anchor="ctr" anchorCtr="0">
            <a:noAutofit/>
          </a:bodyPr>
          <a:lstStyle/>
          <a:p>
            <a:pPr marL="0" lvl="0" indent="0" algn="ctr" rtl="0">
              <a:spcBef>
                <a:spcPts val="0"/>
              </a:spcBef>
              <a:spcAft>
                <a:spcPts val="0"/>
              </a:spcAft>
              <a:buNone/>
            </a:pPr>
            <a:r>
              <a:rPr lang="en-US" sz="1223"/>
              <a:t>Year</a:t>
            </a:r>
            <a:endParaRPr sz="1223"/>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9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9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9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9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9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9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9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9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0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0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0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0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0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0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02"/>
                                        </p:tgtEl>
                                        <p:attrNameLst>
                                          <p:attrName>style.visibility</p:attrName>
                                        </p:attrNameLst>
                                      </p:cBhvr>
                                      <p:to>
                                        <p:strVal val="visible"/>
                                      </p:to>
                                    </p:set>
                                  </p:childTnLst>
                                </p:cTn>
                              </p:par>
                              <p:par>
                                <p:cTn id="67" presetID="1" presetClass="exit" presetSubtype="0" fill="hold" nodeType="withEffect">
                                  <p:stCondLst>
                                    <p:cond delay="0"/>
                                  </p:stCondLst>
                                  <p:childTnLst>
                                    <p:set>
                                      <p:cBhvr>
                                        <p:cTn id="68" dur="1" fill="hold">
                                          <p:stCondLst>
                                            <p:cond delay="0"/>
                                          </p:stCondLst>
                                        </p:cTn>
                                        <p:tgtEl>
                                          <p:spTgt spid="29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0"/>
        <p:cNvGrpSpPr/>
        <p:nvPr/>
      </p:nvGrpSpPr>
      <p:grpSpPr>
        <a:xfrm>
          <a:off x="0" y="0"/>
          <a:ext cx="0" cy="0"/>
          <a:chOff x="0" y="0"/>
          <a:chExt cx="0" cy="0"/>
        </a:xfrm>
      </p:grpSpPr>
      <p:sp>
        <p:nvSpPr>
          <p:cNvPr id="311" name="Google Shape;311;g3a47451f361_5_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2" name="Google Shape;312;g3a47451f361_5_6"/>
          <p:cNvSpPr/>
          <p:nvPr/>
        </p:nvSpPr>
        <p:spPr>
          <a:xfrm rot="10800000">
            <a:off x="-3" y="-22564"/>
            <a:ext cx="12192000" cy="4374000"/>
          </a:xfrm>
          <a:prstGeom prst="rect">
            <a:avLst/>
          </a:prstGeom>
          <a:gradFill>
            <a:gsLst>
              <a:gs pos="0">
                <a:srgbClr val="0F4861"/>
              </a:gs>
              <a:gs pos="100000">
                <a:srgbClr val="000000"/>
              </a:gs>
            </a:gsLst>
            <a:lin ang="1499992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3" name="Google Shape;313;g3a47451f361_5_6"/>
          <p:cNvSpPr/>
          <p:nvPr/>
        </p:nvSpPr>
        <p:spPr>
          <a:xfrm rot="5400000">
            <a:off x="3908698" y="-3931819"/>
            <a:ext cx="4374600" cy="12192000"/>
          </a:xfrm>
          <a:prstGeom prst="rect">
            <a:avLst/>
          </a:prstGeom>
          <a:gradFill>
            <a:gsLst>
              <a:gs pos="0">
                <a:srgbClr val="156082">
                  <a:alpha val="0"/>
                </a:srgbClr>
              </a:gs>
              <a:gs pos="40000">
                <a:srgbClr val="156082">
                  <a:alpha val="0"/>
                </a:srgbClr>
              </a:gs>
              <a:gs pos="100000">
                <a:srgbClr val="0F4861">
                  <a:alpha val="51764"/>
                </a:srgbClr>
              </a:gs>
            </a:gsLst>
            <a:lin ang="239989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4" name="Google Shape;314;g3a47451f361_5_6"/>
          <p:cNvSpPr/>
          <p:nvPr/>
        </p:nvSpPr>
        <p:spPr>
          <a:xfrm rot="5400000">
            <a:off x="4136699" y="-3703993"/>
            <a:ext cx="4374000" cy="11736600"/>
          </a:xfrm>
          <a:prstGeom prst="rect">
            <a:avLst/>
          </a:prstGeom>
          <a:gradFill>
            <a:gsLst>
              <a:gs pos="0">
                <a:srgbClr val="156082">
                  <a:alpha val="0"/>
                </a:srgbClr>
              </a:gs>
              <a:gs pos="17000">
                <a:srgbClr val="156082">
                  <a:alpha val="0"/>
                </a:srgbClr>
              </a:gs>
              <a:gs pos="100000">
                <a:srgbClr val="000000">
                  <a:alpha val="36862"/>
                </a:srgbClr>
              </a:gs>
            </a:gsLst>
            <a:lin ang="7799903"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5" name="Google Shape;315;g3a47451f361_5_6"/>
          <p:cNvSpPr/>
          <p:nvPr/>
        </p:nvSpPr>
        <p:spPr>
          <a:xfrm>
            <a:off x="-5" y="-22690"/>
            <a:ext cx="8542500" cy="4374000"/>
          </a:xfrm>
          <a:prstGeom prst="rect">
            <a:avLst/>
          </a:prstGeom>
          <a:gradFill>
            <a:gsLst>
              <a:gs pos="0">
                <a:srgbClr val="0A3041">
                  <a:alpha val="0"/>
                </a:srgbClr>
              </a:gs>
              <a:gs pos="100000">
                <a:srgbClr val="000000">
                  <a:alpha val="24705"/>
                </a:srgbClr>
              </a:gs>
            </a:gsLst>
            <a:lin ang="1859992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6" name="Google Shape;316;g3a47451f361_5_6"/>
          <p:cNvSpPr/>
          <p:nvPr/>
        </p:nvSpPr>
        <p:spPr>
          <a:xfrm rot="-9090908">
            <a:off x="5941176" y="-1038538"/>
            <a:ext cx="4996147" cy="4444469"/>
          </a:xfrm>
          <a:custGeom>
            <a:avLst/>
            <a:gdLst/>
            <a:ahLst/>
            <a:cxnLst/>
            <a:rect l="l" t="t" r="r" b="b"/>
            <a:pathLst>
              <a:path w="4990147" h="4439131" extrusionOk="0">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rgbClr val="156082">
                  <a:alpha val="21960"/>
                </a:srgbClr>
              </a:gs>
              <a:gs pos="87000">
                <a:srgbClr val="43AFE2">
                  <a:alpha val="1960"/>
                </a:srgbClr>
              </a:gs>
              <a:gs pos="100000">
                <a:srgbClr val="43AFE2">
                  <a:alpha val="1960"/>
                </a:srgbClr>
              </a:gs>
            </a:gsLst>
            <a:lin ang="840013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17" name="Google Shape;317;g3a47451f361_5_6"/>
          <p:cNvSpPr txBox="1">
            <a:spLocks noGrp="1"/>
          </p:cNvSpPr>
          <p:nvPr>
            <p:ph type="title"/>
          </p:nvPr>
        </p:nvSpPr>
        <p:spPr>
          <a:xfrm>
            <a:off x="1314824" y="735106"/>
            <a:ext cx="10053900" cy="29286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FFFF"/>
              </a:buClr>
              <a:buSzPts val="4800"/>
              <a:buFont typeface="Play"/>
              <a:buNone/>
            </a:pPr>
            <a:r>
              <a:rPr lang="en-US" sz="4800">
                <a:solidFill>
                  <a:srgbClr val="FFFFFF"/>
                </a:solidFill>
              </a:rPr>
              <a:t>Conclusion</a:t>
            </a:r>
            <a:endParaRPr/>
          </a:p>
        </p:txBody>
      </p:sp>
      <p:sp>
        <p:nvSpPr>
          <p:cNvPr id="318" name="Google Shape;318;g3a47451f361_5_6"/>
          <p:cNvSpPr txBox="1"/>
          <p:nvPr/>
        </p:nvSpPr>
        <p:spPr>
          <a:xfrm>
            <a:off x="315825" y="4560450"/>
            <a:ext cx="11457300" cy="1877700"/>
          </a:xfrm>
          <a:prstGeom prst="rect">
            <a:avLst/>
          </a:prstGeom>
          <a:noFill/>
          <a:ln>
            <a:noFill/>
          </a:ln>
        </p:spPr>
        <p:txBody>
          <a:bodyPr spcFirstLastPara="1" wrap="square" lIns="91425" tIns="91425" rIns="91425" bIns="91425" anchor="t" anchorCtr="0">
            <a:spAutoFit/>
          </a:bodyPr>
          <a:lstStyle/>
          <a:p>
            <a:pPr marL="457200" lvl="0" indent="-368300" algn="l" rtl="0">
              <a:spcBef>
                <a:spcPts val="0"/>
              </a:spcBef>
              <a:spcAft>
                <a:spcPts val="0"/>
              </a:spcAft>
              <a:buClr>
                <a:schemeClr val="dk1"/>
              </a:buClr>
              <a:buSzPts val="2200"/>
              <a:buChar char="●"/>
            </a:pPr>
            <a:r>
              <a:rPr lang="en-US" sz="2200">
                <a:solidFill>
                  <a:schemeClr val="dk1"/>
                </a:solidFill>
              </a:rPr>
              <a:t>Europe’s high trade dependency and breakdown by Slovenia, Slovakia, Hungary</a:t>
            </a:r>
            <a:endParaRPr sz="2200">
              <a:solidFill>
                <a:schemeClr val="dk1"/>
              </a:solidFill>
            </a:endParaRPr>
          </a:p>
          <a:p>
            <a:pPr marL="457200" lvl="0" indent="0" algn="l" rtl="0">
              <a:spcBef>
                <a:spcPts val="0"/>
              </a:spcBef>
              <a:spcAft>
                <a:spcPts val="0"/>
              </a:spcAft>
              <a:buNone/>
            </a:pPr>
            <a:endParaRPr sz="2200">
              <a:solidFill>
                <a:schemeClr val="dk1"/>
              </a:solidFill>
            </a:endParaRPr>
          </a:p>
          <a:p>
            <a:pPr marL="457200" lvl="0" indent="-368300" algn="l" rtl="0">
              <a:spcBef>
                <a:spcPts val="0"/>
              </a:spcBef>
              <a:spcAft>
                <a:spcPts val="0"/>
              </a:spcAft>
              <a:buClr>
                <a:schemeClr val="dk1"/>
              </a:buClr>
              <a:buSzPts val="2200"/>
              <a:buChar char="●"/>
            </a:pPr>
            <a:r>
              <a:rPr lang="en-US" sz="2200">
                <a:solidFill>
                  <a:schemeClr val="dk1"/>
                </a:solidFill>
              </a:rPr>
              <a:t>Provides a basis for analysis in future studies to realise economic vulnerability and foster sustainable economic growth</a:t>
            </a:r>
            <a:endParaRPr sz="2200">
              <a:solidFill>
                <a:schemeClr val="dk1"/>
              </a:solidFill>
            </a:endParaRPr>
          </a:p>
          <a:p>
            <a:pPr marL="0" lvl="0" indent="0" algn="l" rtl="0">
              <a:spcBef>
                <a:spcPts val="0"/>
              </a:spcBef>
              <a:spcAft>
                <a:spcPts val="0"/>
              </a:spcAft>
              <a:buNone/>
            </a:pPr>
            <a:endParaRPr sz="22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2"/>
        <p:cNvGrpSpPr/>
        <p:nvPr/>
      </p:nvGrpSpPr>
      <p:grpSpPr>
        <a:xfrm>
          <a:off x="0" y="0"/>
          <a:ext cx="0" cy="0"/>
          <a:chOff x="0" y="0"/>
          <a:chExt cx="0" cy="0"/>
        </a:xfrm>
      </p:grpSpPr>
      <p:sp>
        <p:nvSpPr>
          <p:cNvPr id="323" name="Google Shape;323;p2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4" name="Google Shape;324;p21"/>
          <p:cNvSpPr/>
          <p:nvPr/>
        </p:nvSpPr>
        <p:spPr>
          <a:xfrm rot="10800000">
            <a:off x="-2" y="-22693"/>
            <a:ext cx="12191999" cy="4374129"/>
          </a:xfrm>
          <a:prstGeom prst="rect">
            <a:avLst/>
          </a:prstGeom>
          <a:gradFill>
            <a:gsLst>
              <a:gs pos="0">
                <a:srgbClr val="0F4861"/>
              </a:gs>
              <a:gs pos="100000">
                <a:srgbClr val="000000"/>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5" name="Google Shape;325;p21"/>
          <p:cNvSpPr/>
          <p:nvPr/>
        </p:nvSpPr>
        <p:spPr>
          <a:xfrm rot="5400000">
            <a:off x="3908719" y="-3931841"/>
            <a:ext cx="4374557" cy="12192000"/>
          </a:xfrm>
          <a:prstGeom prst="rect">
            <a:avLst/>
          </a:prstGeom>
          <a:gradFill>
            <a:gsLst>
              <a:gs pos="0">
                <a:srgbClr val="156082">
                  <a:alpha val="0"/>
                </a:srgbClr>
              </a:gs>
              <a:gs pos="40000">
                <a:srgbClr val="156082">
                  <a:alpha val="0"/>
                </a:srgbClr>
              </a:gs>
              <a:gs pos="100000">
                <a:srgbClr val="0F4861">
                  <a:alpha val="51764"/>
                </a:srgbClr>
              </a:gs>
            </a:gsLst>
            <a:lin ang="2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6" name="Google Shape;326;p21"/>
          <p:cNvSpPr/>
          <p:nvPr/>
        </p:nvSpPr>
        <p:spPr>
          <a:xfrm rot="5400000">
            <a:off x="4136696" y="-3703868"/>
            <a:ext cx="4374128" cy="11736479"/>
          </a:xfrm>
          <a:prstGeom prst="rect">
            <a:avLst/>
          </a:prstGeom>
          <a:gradFill>
            <a:gsLst>
              <a:gs pos="0">
                <a:srgbClr val="156082">
                  <a:alpha val="0"/>
                </a:srgbClr>
              </a:gs>
              <a:gs pos="17000">
                <a:srgbClr val="156082">
                  <a:alpha val="0"/>
                </a:srgbClr>
              </a:gs>
              <a:gs pos="100000">
                <a:srgbClr val="000000">
                  <a:alpha val="36862"/>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7" name="Google Shape;327;p21"/>
          <p:cNvSpPr/>
          <p:nvPr/>
        </p:nvSpPr>
        <p:spPr>
          <a:xfrm>
            <a:off x="-5" y="-22690"/>
            <a:ext cx="8542485" cy="4374126"/>
          </a:xfrm>
          <a:prstGeom prst="rect">
            <a:avLst/>
          </a:prstGeom>
          <a:gradFill>
            <a:gsLst>
              <a:gs pos="0">
                <a:srgbClr val="0A3041">
                  <a:alpha val="0"/>
                </a:srgbClr>
              </a:gs>
              <a:gs pos="100000">
                <a:srgbClr val="000000">
                  <a:alpha val="24705"/>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8" name="Google Shape;328;p21"/>
          <p:cNvSpPr/>
          <p:nvPr/>
        </p:nvSpPr>
        <p:spPr>
          <a:xfrm rot="-9091028">
            <a:off x="5945431" y="-1032053"/>
            <a:ext cx="4990147" cy="4439131"/>
          </a:xfrm>
          <a:custGeom>
            <a:avLst/>
            <a:gdLst/>
            <a:ahLst/>
            <a:cxnLst/>
            <a:rect l="l" t="t" r="r" b="b"/>
            <a:pathLst>
              <a:path w="4990147" h="4439131" extrusionOk="0">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rgbClr val="156082">
                  <a:alpha val="21960"/>
                </a:srgbClr>
              </a:gs>
              <a:gs pos="87000">
                <a:srgbClr val="43AFE2">
                  <a:alpha val="1960"/>
                </a:srgbClr>
              </a:gs>
              <a:gs pos="100000">
                <a:srgbClr val="43AFE2">
                  <a:alpha val="196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29" name="Google Shape;329;p21"/>
          <p:cNvSpPr txBox="1">
            <a:spLocks noGrp="1"/>
          </p:cNvSpPr>
          <p:nvPr>
            <p:ph type="title"/>
          </p:nvPr>
        </p:nvSpPr>
        <p:spPr>
          <a:xfrm>
            <a:off x="1314824" y="735106"/>
            <a:ext cx="10053763" cy="292847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FFFF"/>
              </a:buClr>
              <a:buSzPts val="4800"/>
              <a:buFont typeface="Play"/>
              <a:buNone/>
            </a:pPr>
            <a:r>
              <a:rPr lang="en-US" sz="4800">
                <a:solidFill>
                  <a:srgbClr val="FFFFFF"/>
                </a:solidFill>
                <a:latin typeface="Play"/>
                <a:ea typeface="Play"/>
                <a:cs typeface="Play"/>
                <a:sym typeface="Play"/>
              </a:rPr>
              <a:t>References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g3a44b44c33f_0_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Reference List</a:t>
            </a:r>
            <a:endParaRPr/>
          </a:p>
        </p:txBody>
      </p:sp>
      <p:sp>
        <p:nvSpPr>
          <p:cNvPr id="335" name="Google Shape;335;g3a44b44c33f_0_27"/>
          <p:cNvSpPr txBox="1"/>
          <p:nvPr/>
        </p:nvSpPr>
        <p:spPr>
          <a:xfrm>
            <a:off x="625642" y="1690688"/>
            <a:ext cx="107283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a:p>
            <a:pPr marL="0" marR="0" lvl="0" indent="0" algn="l" rtl="0">
              <a:spcBef>
                <a:spcPts val="0"/>
              </a:spcBef>
              <a:spcAft>
                <a:spcPts val="0"/>
              </a:spcAft>
              <a:buNone/>
            </a:pPr>
            <a:endParaRPr/>
          </a:p>
        </p:txBody>
      </p:sp>
      <p:sp>
        <p:nvSpPr>
          <p:cNvPr id="336" name="Google Shape;336;g3a44b44c33f_0_27"/>
          <p:cNvSpPr txBox="1"/>
          <p:nvPr/>
        </p:nvSpPr>
        <p:spPr>
          <a:xfrm>
            <a:off x="936325" y="1424975"/>
            <a:ext cx="10417500" cy="387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dk1"/>
                </a:solidFill>
              </a:rPr>
              <a:t>Hristanova, J. (2025). The European Union's Trade Policy Amid Rising Global Protectionism. </a:t>
            </a:r>
            <a:r>
              <a:rPr lang="en-US" sz="1200" i="1">
                <a:solidFill>
                  <a:schemeClr val="dk1"/>
                </a:solidFill>
              </a:rPr>
              <a:t>European Generation.</a:t>
            </a:r>
            <a:r>
              <a:rPr lang="en-US" sz="1200">
                <a:solidFill>
                  <a:schemeClr val="dk1"/>
                </a:solidFill>
              </a:rPr>
              <a:t> </a:t>
            </a:r>
            <a:r>
              <a:rPr lang="en-US" sz="1200" u="sng">
                <a:solidFill>
                  <a:schemeClr val="hlink"/>
                </a:solidFill>
                <a:hlinkClick r:id="rId3"/>
              </a:rPr>
              <a:t>https://www.europeangeneration.eu/single-post/the-european-union-s-trade-policy-amid-rising-global-protectionism</a:t>
            </a:r>
            <a:endParaRPr sz="1800">
              <a:solidFill>
                <a:schemeClr val="dk1"/>
              </a:solidFill>
            </a:endParaRPr>
          </a:p>
          <a:p>
            <a:pPr marL="0" marR="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r>
              <a:rPr lang="en-US" sz="1200">
                <a:solidFill>
                  <a:schemeClr val="dk1"/>
                </a:solidFill>
              </a:rPr>
              <a:t>Lebastard, L., Matani, M., &amp; Serafini, R. (2023). Understanding the Impact of COVID-19 Supply Disruptions on Exporters in Global Value Chains. </a:t>
            </a:r>
            <a:r>
              <a:rPr lang="en-US" sz="1200" i="1">
                <a:solidFill>
                  <a:schemeClr val="dk1"/>
                </a:solidFill>
              </a:rPr>
              <a:t>Centre for Economic Policy Research.</a:t>
            </a:r>
            <a:r>
              <a:rPr lang="en-US" sz="1200">
                <a:solidFill>
                  <a:schemeClr val="dk1"/>
                </a:solidFill>
              </a:rPr>
              <a:t> </a:t>
            </a:r>
            <a:r>
              <a:rPr lang="en-US" sz="1200" u="sng">
                <a:solidFill>
                  <a:schemeClr val="hlink"/>
                </a:solidFill>
                <a:hlinkClick r:id="rId4"/>
              </a:rPr>
              <a:t>https://cepr.org/voxeu/columns/understanding-impact-covid-19-supply-disruptions-exporters-global-value-chains</a:t>
            </a:r>
            <a:endParaRPr sz="18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r>
              <a:rPr lang="en-US" sz="1200">
                <a:solidFill>
                  <a:schemeClr val="dk1"/>
                </a:solidFill>
              </a:rPr>
              <a:t>Organisation for Economic Co-operation and Development. (2022).</a:t>
            </a:r>
            <a:r>
              <a:rPr lang="en-US" sz="1200" i="1">
                <a:solidFill>
                  <a:schemeClr val="dk1"/>
                </a:solidFill>
              </a:rPr>
              <a:t> International Trade During the COVID-19 Pandemic: Big Shifts and Uncertainty. </a:t>
            </a:r>
            <a:r>
              <a:rPr lang="en-US" sz="1200" u="sng">
                <a:solidFill>
                  <a:schemeClr val="hlink"/>
                </a:solidFill>
                <a:hlinkClick r:id="rId5"/>
              </a:rPr>
              <a:t>https://www.oecd.org/content/dam/oecd/en/publications/reports/2022/03/international-trade-during-the-covid-19-pandemic-big-shifts-and-uncertainty_33e349d3/d1131663-en.pdf</a:t>
            </a:r>
            <a:r>
              <a:rPr lang="en-US" sz="1200">
                <a:solidFill>
                  <a:schemeClr val="dk1"/>
                </a:solidFill>
              </a:rPr>
              <a:t> </a:t>
            </a: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r>
              <a:rPr lang="en-US" sz="1200">
                <a:solidFill>
                  <a:schemeClr val="dk1"/>
                </a:solidFill>
              </a:rPr>
              <a:t>Organisation for Economic Co-operation and Development. (2025). </a:t>
            </a:r>
            <a:r>
              <a:rPr lang="en-US" sz="1200" i="1">
                <a:solidFill>
                  <a:schemeClr val="dk1"/>
                </a:solidFill>
              </a:rPr>
              <a:t>Economic Security in a Changing World: Economic security and vulnerabilities in international supply chains. </a:t>
            </a:r>
            <a:r>
              <a:rPr lang="en-US" sz="1200" u="sng">
                <a:solidFill>
                  <a:schemeClr val="hlink"/>
                </a:solidFill>
                <a:hlinkClick r:id="rId6"/>
              </a:rPr>
              <a:t>https://www.oecd.org/en/publications/2025/09/economic-security-in-a-changing-world_78f3b129/full-report/economic-security-and-vulnerabilities-in-international-supply-chains_dc88aefa.html</a:t>
            </a: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r>
              <a:rPr lang="en-US" sz="1200">
                <a:solidFill>
                  <a:schemeClr val="dk1"/>
                </a:solidFill>
              </a:rPr>
              <a:t>United Nations. (2022). </a:t>
            </a:r>
            <a:r>
              <a:rPr lang="en-US" sz="1200" i="1">
                <a:solidFill>
                  <a:schemeClr val="dk1"/>
                </a:solidFill>
              </a:rPr>
              <a:t>Impact of the Covid-19 Pandemic on Trade and Development: Lessons Learned.</a:t>
            </a:r>
            <a:r>
              <a:rPr lang="en-US" sz="1200">
                <a:solidFill>
                  <a:schemeClr val="dk1"/>
                </a:solidFill>
              </a:rPr>
              <a:t> </a:t>
            </a:r>
            <a:r>
              <a:rPr lang="en-US" sz="1200" u="sng">
                <a:solidFill>
                  <a:schemeClr val="hlink"/>
                </a:solidFill>
                <a:hlinkClick r:id="rId7"/>
              </a:rPr>
              <a:t>https://unctad.org/system/files/official-document/osg2022d1_en.pdf</a:t>
            </a:r>
            <a:r>
              <a:rPr lang="en-US" sz="1200">
                <a:solidFill>
                  <a:schemeClr val="dk1"/>
                </a:solidFill>
              </a:rPr>
              <a:t> </a:t>
            </a: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Clr>
                <a:schemeClr val="dk1"/>
              </a:buClr>
              <a:buFont typeface="Arial"/>
              <a:buNone/>
            </a:pPr>
            <a:r>
              <a:rPr lang="en-US" sz="1200">
                <a:solidFill>
                  <a:schemeClr val="dk1"/>
                </a:solidFill>
              </a:rPr>
              <a:t>World Trade Organisation. (2021).</a:t>
            </a:r>
            <a:r>
              <a:rPr lang="en-US" sz="1200" i="1">
                <a:solidFill>
                  <a:schemeClr val="dk1"/>
                </a:solidFill>
              </a:rPr>
              <a:t> World Trade Report 2021: Economic resilience and trade.</a:t>
            </a:r>
            <a:r>
              <a:rPr lang="en-US" sz="1200">
                <a:solidFill>
                  <a:schemeClr val="dk1"/>
                </a:solidFill>
              </a:rPr>
              <a:t> </a:t>
            </a:r>
            <a:r>
              <a:rPr lang="en-US" sz="1200" u="sng">
                <a:solidFill>
                  <a:schemeClr val="hlink"/>
                </a:solidFill>
                <a:hlinkClick r:id="rId8"/>
              </a:rPr>
              <a:t>https://www.wto.org/english/res_e/booksp_e/wtr21_e/01_c_wtr21_e.pdf</a:t>
            </a:r>
            <a:endParaRPr sz="12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0"/>
        <p:cNvGrpSpPr/>
        <p:nvPr/>
      </p:nvGrpSpPr>
      <p:grpSpPr>
        <a:xfrm>
          <a:off x="0" y="0"/>
          <a:ext cx="0" cy="0"/>
          <a:chOff x="0" y="0"/>
          <a:chExt cx="0" cy="0"/>
        </a:xfrm>
      </p:grpSpPr>
      <p:sp>
        <p:nvSpPr>
          <p:cNvPr id="341" name="Google Shape;341;p2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2" name="Google Shape;342;p22"/>
          <p:cNvSpPr/>
          <p:nvPr/>
        </p:nvSpPr>
        <p:spPr>
          <a:xfrm rot="10800000">
            <a:off x="-2" y="-22693"/>
            <a:ext cx="12191999" cy="4374129"/>
          </a:xfrm>
          <a:prstGeom prst="rect">
            <a:avLst/>
          </a:prstGeom>
          <a:gradFill>
            <a:gsLst>
              <a:gs pos="0">
                <a:srgbClr val="0F4861"/>
              </a:gs>
              <a:gs pos="100000">
                <a:srgbClr val="000000"/>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3" name="Google Shape;343;p22"/>
          <p:cNvSpPr/>
          <p:nvPr/>
        </p:nvSpPr>
        <p:spPr>
          <a:xfrm rot="5400000">
            <a:off x="3908719" y="-3931841"/>
            <a:ext cx="4374557" cy="12192000"/>
          </a:xfrm>
          <a:prstGeom prst="rect">
            <a:avLst/>
          </a:prstGeom>
          <a:gradFill>
            <a:gsLst>
              <a:gs pos="0">
                <a:srgbClr val="156082">
                  <a:alpha val="0"/>
                </a:srgbClr>
              </a:gs>
              <a:gs pos="40000">
                <a:srgbClr val="156082">
                  <a:alpha val="0"/>
                </a:srgbClr>
              </a:gs>
              <a:gs pos="100000">
                <a:srgbClr val="0F4861">
                  <a:alpha val="51764"/>
                </a:srgbClr>
              </a:gs>
            </a:gsLst>
            <a:lin ang="2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4" name="Google Shape;344;p22"/>
          <p:cNvSpPr/>
          <p:nvPr/>
        </p:nvSpPr>
        <p:spPr>
          <a:xfrm rot="5400000">
            <a:off x="4136696" y="-3703868"/>
            <a:ext cx="4374128" cy="11736479"/>
          </a:xfrm>
          <a:prstGeom prst="rect">
            <a:avLst/>
          </a:prstGeom>
          <a:gradFill>
            <a:gsLst>
              <a:gs pos="0">
                <a:srgbClr val="156082">
                  <a:alpha val="0"/>
                </a:srgbClr>
              </a:gs>
              <a:gs pos="17000">
                <a:srgbClr val="156082">
                  <a:alpha val="0"/>
                </a:srgbClr>
              </a:gs>
              <a:gs pos="100000">
                <a:srgbClr val="000000">
                  <a:alpha val="36862"/>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5" name="Google Shape;345;p22"/>
          <p:cNvSpPr/>
          <p:nvPr/>
        </p:nvSpPr>
        <p:spPr>
          <a:xfrm>
            <a:off x="-5" y="-22690"/>
            <a:ext cx="8542485" cy="4374126"/>
          </a:xfrm>
          <a:prstGeom prst="rect">
            <a:avLst/>
          </a:prstGeom>
          <a:gradFill>
            <a:gsLst>
              <a:gs pos="0">
                <a:srgbClr val="0A3041">
                  <a:alpha val="0"/>
                </a:srgbClr>
              </a:gs>
              <a:gs pos="100000">
                <a:srgbClr val="000000">
                  <a:alpha val="24705"/>
                </a:srgbClr>
              </a:gs>
            </a:gsLst>
            <a:lin ang="18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6" name="Google Shape;346;p22"/>
          <p:cNvSpPr/>
          <p:nvPr/>
        </p:nvSpPr>
        <p:spPr>
          <a:xfrm rot="-9091028">
            <a:off x="5945431" y="-1032053"/>
            <a:ext cx="4990147" cy="4439131"/>
          </a:xfrm>
          <a:custGeom>
            <a:avLst/>
            <a:gdLst/>
            <a:ahLst/>
            <a:cxnLst/>
            <a:rect l="l" t="t" r="r" b="b"/>
            <a:pathLst>
              <a:path w="4990147" h="4439131" extrusionOk="0">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rgbClr val="156082">
                  <a:alpha val="21960"/>
                </a:srgbClr>
              </a:gs>
              <a:gs pos="87000">
                <a:srgbClr val="43AFE2">
                  <a:alpha val="1960"/>
                </a:srgbClr>
              </a:gs>
              <a:gs pos="100000">
                <a:srgbClr val="43AFE2">
                  <a:alpha val="196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347" name="Google Shape;347;p22"/>
          <p:cNvSpPr txBox="1">
            <a:spLocks noGrp="1"/>
          </p:cNvSpPr>
          <p:nvPr>
            <p:ph type="title"/>
          </p:nvPr>
        </p:nvSpPr>
        <p:spPr>
          <a:xfrm>
            <a:off x="1314824" y="735106"/>
            <a:ext cx="10053763" cy="292847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FFFF"/>
              </a:buClr>
              <a:buSzPts val="4800"/>
              <a:buFont typeface="Play"/>
              <a:buNone/>
            </a:pPr>
            <a:r>
              <a:rPr lang="en-US" sz="4800">
                <a:solidFill>
                  <a:srgbClr val="FFFFFF"/>
                </a:solidFill>
                <a:latin typeface="Play"/>
                <a:ea typeface="Play"/>
                <a:cs typeface="Play"/>
                <a:sym typeface="Play"/>
              </a:rPr>
              <a:t>Appendix</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g3a47451f361_5_16"/>
          <p:cNvSpPr txBox="1">
            <a:spLocks noGrp="1"/>
          </p:cNvSpPr>
          <p:nvPr>
            <p:ph type="title"/>
          </p:nvPr>
        </p:nvSpPr>
        <p:spPr>
          <a:xfrm>
            <a:off x="215259" y="242750"/>
            <a:ext cx="2733300" cy="9012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Definition</a:t>
            </a:r>
            <a:endParaRPr/>
          </a:p>
        </p:txBody>
      </p:sp>
      <p:sp>
        <p:nvSpPr>
          <p:cNvPr id="354" name="Google Shape;354;g3a47451f361_5_16"/>
          <p:cNvSpPr txBox="1"/>
          <p:nvPr/>
        </p:nvSpPr>
        <p:spPr>
          <a:xfrm>
            <a:off x="254225" y="1143950"/>
            <a:ext cx="11630400" cy="55719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US" sz="1600" b="1">
                <a:solidFill>
                  <a:schemeClr val="dk1"/>
                </a:solidFill>
              </a:rPr>
              <a:t>Trade Dependence:</a:t>
            </a:r>
            <a:endParaRPr sz="1600" b="1">
              <a:solidFill>
                <a:schemeClr val="dk1"/>
              </a:solidFill>
            </a:endParaRPr>
          </a:p>
          <a:p>
            <a:pPr marL="0" lvl="0" indent="0" algn="l" rtl="0">
              <a:lnSpc>
                <a:spcPct val="100000"/>
              </a:lnSpc>
              <a:spcBef>
                <a:spcPts val="0"/>
              </a:spcBef>
              <a:spcAft>
                <a:spcPts val="0"/>
              </a:spcAft>
              <a:buNone/>
            </a:pPr>
            <a:r>
              <a:rPr lang="en-US">
                <a:solidFill>
                  <a:schemeClr val="dk1"/>
                </a:solidFill>
              </a:rPr>
              <a:t>The degree to which a country's economy relies on international trade for its economic growth, supply of goods, or demand for its products. </a:t>
            </a:r>
            <a:endParaRPr>
              <a:solidFill>
                <a:schemeClr val="dk1"/>
              </a:solidFill>
            </a:endParaRPr>
          </a:p>
          <a:p>
            <a:pPr marL="0" lvl="0" indent="0" algn="l" rtl="0">
              <a:lnSpc>
                <a:spcPct val="100000"/>
              </a:lnSpc>
              <a:spcBef>
                <a:spcPts val="0"/>
              </a:spcBef>
              <a:spcAft>
                <a:spcPts val="0"/>
              </a:spcAft>
              <a:buNone/>
            </a:pPr>
            <a:endParaRPr>
              <a:solidFill>
                <a:schemeClr val="dk1"/>
              </a:solidFill>
            </a:endParaRPr>
          </a:p>
          <a:p>
            <a:pPr marL="0" lvl="0" indent="0" algn="l" rtl="0">
              <a:lnSpc>
                <a:spcPct val="100000"/>
              </a:lnSpc>
              <a:spcBef>
                <a:spcPts val="0"/>
              </a:spcBef>
              <a:spcAft>
                <a:spcPts val="0"/>
              </a:spcAft>
              <a:buNone/>
            </a:pPr>
            <a:r>
              <a:rPr lang="en-US" sz="1600" b="1">
                <a:solidFill>
                  <a:schemeClr val="dk1"/>
                </a:solidFill>
              </a:rPr>
              <a:t>Import Dependence: </a:t>
            </a:r>
            <a:endParaRPr sz="1600" b="1">
              <a:solidFill>
                <a:schemeClr val="dk1"/>
              </a:solidFill>
            </a:endParaRPr>
          </a:p>
          <a:p>
            <a:pPr marL="0" lvl="0" indent="0" algn="l" rtl="0">
              <a:lnSpc>
                <a:spcPct val="100000"/>
              </a:lnSpc>
              <a:spcBef>
                <a:spcPts val="0"/>
              </a:spcBef>
              <a:spcAft>
                <a:spcPts val="0"/>
              </a:spcAft>
              <a:buNone/>
            </a:pPr>
            <a:r>
              <a:rPr lang="en-US">
                <a:solidFill>
                  <a:schemeClr val="dk1"/>
                </a:solidFill>
              </a:rPr>
              <a:t>A country's reliance on foreign goods and services to meet its material needs.</a:t>
            </a:r>
            <a:endParaRPr>
              <a:solidFill>
                <a:schemeClr val="dk1"/>
              </a:solidFill>
            </a:endParaRPr>
          </a:p>
          <a:p>
            <a:pPr marL="0" lvl="0" indent="0" algn="l" rtl="0">
              <a:lnSpc>
                <a:spcPct val="100000"/>
              </a:lnSpc>
              <a:spcBef>
                <a:spcPts val="0"/>
              </a:spcBef>
              <a:spcAft>
                <a:spcPts val="0"/>
              </a:spcAft>
              <a:buNone/>
            </a:pPr>
            <a:endParaRPr>
              <a:solidFill>
                <a:schemeClr val="dk1"/>
              </a:solidFill>
            </a:endParaRPr>
          </a:p>
          <a:p>
            <a:pPr marL="0" lvl="0" indent="0" algn="l" rtl="0">
              <a:lnSpc>
                <a:spcPct val="100000"/>
              </a:lnSpc>
              <a:spcBef>
                <a:spcPts val="0"/>
              </a:spcBef>
              <a:spcAft>
                <a:spcPts val="0"/>
              </a:spcAft>
              <a:buNone/>
            </a:pPr>
            <a:r>
              <a:rPr lang="en-US" sz="1600" b="1">
                <a:solidFill>
                  <a:schemeClr val="dk1"/>
                </a:solidFill>
              </a:rPr>
              <a:t>Export Dependence: </a:t>
            </a:r>
            <a:endParaRPr sz="1600" b="1">
              <a:solidFill>
                <a:schemeClr val="dk1"/>
              </a:solidFill>
            </a:endParaRPr>
          </a:p>
          <a:p>
            <a:pPr marL="0" lvl="0" indent="0" algn="l" rtl="0">
              <a:lnSpc>
                <a:spcPct val="100000"/>
              </a:lnSpc>
              <a:spcBef>
                <a:spcPts val="0"/>
              </a:spcBef>
              <a:spcAft>
                <a:spcPts val="0"/>
              </a:spcAft>
              <a:buNone/>
            </a:pPr>
            <a:r>
              <a:rPr lang="en-US">
                <a:solidFill>
                  <a:schemeClr val="dk1"/>
                </a:solidFill>
              </a:rPr>
              <a:t>The percentage of a country's total economic output that is generated through exports.</a:t>
            </a:r>
            <a:endParaRPr>
              <a:solidFill>
                <a:schemeClr val="dk1"/>
              </a:solidFill>
            </a:endParaRPr>
          </a:p>
          <a:p>
            <a:pPr marL="0" lvl="0" indent="0" algn="l" rtl="0">
              <a:lnSpc>
                <a:spcPct val="100000"/>
              </a:lnSpc>
              <a:spcBef>
                <a:spcPts val="0"/>
              </a:spcBef>
              <a:spcAft>
                <a:spcPts val="0"/>
              </a:spcAft>
              <a:buNone/>
            </a:pPr>
            <a:endParaRPr>
              <a:solidFill>
                <a:schemeClr val="dk1"/>
              </a:solidFill>
            </a:endParaRPr>
          </a:p>
          <a:p>
            <a:pPr marL="0" lvl="0" indent="0" algn="l" rtl="0">
              <a:lnSpc>
                <a:spcPct val="100000"/>
              </a:lnSpc>
              <a:spcBef>
                <a:spcPts val="0"/>
              </a:spcBef>
              <a:spcAft>
                <a:spcPts val="0"/>
              </a:spcAft>
              <a:buNone/>
            </a:pPr>
            <a:r>
              <a:rPr lang="en-US" sz="1600" b="1">
                <a:solidFill>
                  <a:schemeClr val="dk1"/>
                </a:solidFill>
              </a:rPr>
              <a:t>Raw Materials:</a:t>
            </a:r>
            <a:endParaRPr sz="1600" b="1">
              <a:solidFill>
                <a:schemeClr val="dk1"/>
              </a:solidFill>
            </a:endParaRPr>
          </a:p>
          <a:p>
            <a:pPr marL="0" lvl="0" indent="0" algn="l" rtl="0">
              <a:lnSpc>
                <a:spcPct val="100000"/>
              </a:lnSpc>
              <a:spcBef>
                <a:spcPts val="0"/>
              </a:spcBef>
              <a:spcAft>
                <a:spcPts val="0"/>
              </a:spcAft>
              <a:buNone/>
            </a:pPr>
            <a:r>
              <a:rPr lang="en-US">
                <a:solidFill>
                  <a:schemeClr val="dk1"/>
                </a:solidFill>
              </a:rPr>
              <a:t>Basic natural resources or unprocessed inputs used to produce goods.</a:t>
            </a:r>
            <a:br>
              <a:rPr lang="en-US">
                <a:solidFill>
                  <a:schemeClr val="dk1"/>
                </a:solidFill>
              </a:rPr>
            </a:br>
            <a:r>
              <a:rPr lang="en-US">
                <a:solidFill>
                  <a:schemeClr val="dk1"/>
                </a:solidFill>
              </a:rPr>
              <a:t>Examples: timber, crude oil, iron ore, cotton.</a:t>
            </a:r>
            <a:endParaRPr>
              <a:solidFill>
                <a:schemeClr val="dk1"/>
              </a:solidFill>
            </a:endParaRPr>
          </a:p>
          <a:p>
            <a:pPr marL="0" lvl="0" indent="0" algn="l" rtl="0">
              <a:lnSpc>
                <a:spcPct val="100000"/>
              </a:lnSpc>
              <a:spcBef>
                <a:spcPts val="0"/>
              </a:spcBef>
              <a:spcAft>
                <a:spcPts val="0"/>
              </a:spcAft>
              <a:buNone/>
            </a:pPr>
            <a:endParaRPr>
              <a:solidFill>
                <a:schemeClr val="dk1"/>
              </a:solidFill>
            </a:endParaRPr>
          </a:p>
          <a:p>
            <a:pPr marL="0" lvl="0" indent="0" algn="l" rtl="0">
              <a:lnSpc>
                <a:spcPct val="100000"/>
              </a:lnSpc>
              <a:spcBef>
                <a:spcPts val="0"/>
              </a:spcBef>
              <a:spcAft>
                <a:spcPts val="0"/>
              </a:spcAft>
              <a:buNone/>
            </a:pPr>
            <a:r>
              <a:rPr lang="en-US" sz="1600" b="1">
                <a:solidFill>
                  <a:schemeClr val="dk1"/>
                </a:solidFill>
              </a:rPr>
              <a:t>Intermediate Goods:</a:t>
            </a:r>
            <a:endParaRPr sz="1600" b="1">
              <a:solidFill>
                <a:schemeClr val="dk1"/>
              </a:solidFill>
            </a:endParaRPr>
          </a:p>
          <a:p>
            <a:pPr marL="0" lvl="0" indent="0" algn="l" rtl="0">
              <a:lnSpc>
                <a:spcPct val="100000"/>
              </a:lnSpc>
              <a:spcBef>
                <a:spcPts val="0"/>
              </a:spcBef>
              <a:spcAft>
                <a:spcPts val="0"/>
              </a:spcAft>
              <a:buNone/>
            </a:pPr>
            <a:r>
              <a:rPr lang="en-US">
                <a:solidFill>
                  <a:schemeClr val="dk1"/>
                </a:solidFill>
              </a:rPr>
              <a:t>Products that have been partly processed and are used as inputs to produce other goods. They are </a:t>
            </a:r>
            <a:r>
              <a:rPr lang="en-US" b="1">
                <a:solidFill>
                  <a:schemeClr val="dk1"/>
                </a:solidFill>
              </a:rPr>
              <a:t>not</a:t>
            </a:r>
            <a:r>
              <a:rPr lang="en-US">
                <a:solidFill>
                  <a:schemeClr val="dk1"/>
                </a:solidFill>
              </a:rPr>
              <a:t> purchased for final consumption.</a:t>
            </a:r>
            <a:br>
              <a:rPr lang="en-US">
                <a:solidFill>
                  <a:schemeClr val="dk1"/>
                </a:solidFill>
              </a:rPr>
            </a:br>
            <a:r>
              <a:rPr lang="en-US">
                <a:solidFill>
                  <a:schemeClr val="dk1"/>
                </a:solidFill>
              </a:rPr>
              <a:t>Examples: steel used to make cars, flour used to make bread.</a:t>
            </a:r>
            <a:endParaRPr>
              <a:solidFill>
                <a:schemeClr val="dk1"/>
              </a:solidFill>
            </a:endParaRPr>
          </a:p>
          <a:p>
            <a:pPr marL="0" lvl="0" indent="0" algn="l" rtl="0">
              <a:lnSpc>
                <a:spcPct val="100000"/>
              </a:lnSpc>
              <a:spcBef>
                <a:spcPts val="0"/>
              </a:spcBef>
              <a:spcAft>
                <a:spcPts val="0"/>
              </a:spcAft>
              <a:buNone/>
            </a:pPr>
            <a:endParaRPr>
              <a:solidFill>
                <a:schemeClr val="dk1"/>
              </a:solidFill>
            </a:endParaRPr>
          </a:p>
          <a:p>
            <a:pPr marL="0" lvl="0" indent="0" algn="l" rtl="0">
              <a:lnSpc>
                <a:spcPct val="100000"/>
              </a:lnSpc>
              <a:spcBef>
                <a:spcPts val="0"/>
              </a:spcBef>
              <a:spcAft>
                <a:spcPts val="0"/>
              </a:spcAft>
              <a:buNone/>
            </a:pPr>
            <a:r>
              <a:rPr lang="en-US" sz="1600" b="1">
                <a:solidFill>
                  <a:schemeClr val="dk1"/>
                </a:solidFill>
              </a:rPr>
              <a:t>Consumer Goods:</a:t>
            </a:r>
            <a:endParaRPr sz="1600" b="1">
              <a:solidFill>
                <a:schemeClr val="dk1"/>
              </a:solidFill>
            </a:endParaRPr>
          </a:p>
          <a:p>
            <a:pPr marL="0" lvl="0" indent="0" algn="l" rtl="0">
              <a:lnSpc>
                <a:spcPct val="100000"/>
              </a:lnSpc>
              <a:spcBef>
                <a:spcPts val="0"/>
              </a:spcBef>
              <a:spcAft>
                <a:spcPts val="0"/>
              </a:spcAft>
              <a:buNone/>
            </a:pPr>
            <a:r>
              <a:rPr lang="en-US">
                <a:solidFill>
                  <a:schemeClr val="dk1"/>
                </a:solidFill>
              </a:rPr>
              <a:t>Finished products that are purchased by individuals for personal use or consumption.</a:t>
            </a:r>
            <a:br>
              <a:rPr lang="en-US">
                <a:solidFill>
                  <a:schemeClr val="dk1"/>
                </a:solidFill>
              </a:rPr>
            </a:br>
            <a:r>
              <a:rPr lang="en-US">
                <a:solidFill>
                  <a:schemeClr val="dk1"/>
                </a:solidFill>
              </a:rPr>
              <a:t>Examples: clothing, smartphones, food, furniture.</a:t>
            </a:r>
            <a:endParaRPr>
              <a:solidFill>
                <a:schemeClr val="dk1"/>
              </a:solidFill>
            </a:endParaRPr>
          </a:p>
          <a:p>
            <a:pPr marL="0" lvl="0" indent="0" algn="l" rtl="0">
              <a:lnSpc>
                <a:spcPct val="100000"/>
              </a:lnSpc>
              <a:spcBef>
                <a:spcPts val="0"/>
              </a:spcBef>
              <a:spcAft>
                <a:spcPts val="0"/>
              </a:spcAft>
              <a:buNone/>
            </a:pPr>
            <a:endParaRPr>
              <a:solidFill>
                <a:schemeClr val="dk1"/>
              </a:solidFill>
            </a:endParaRPr>
          </a:p>
          <a:p>
            <a:pPr marL="0" lvl="0" indent="0" algn="l" rtl="0">
              <a:lnSpc>
                <a:spcPct val="100000"/>
              </a:lnSpc>
              <a:spcBef>
                <a:spcPts val="0"/>
              </a:spcBef>
              <a:spcAft>
                <a:spcPts val="0"/>
              </a:spcAft>
              <a:buNone/>
            </a:pPr>
            <a:r>
              <a:rPr lang="en-US" sz="1600" b="1">
                <a:solidFill>
                  <a:schemeClr val="dk1"/>
                </a:solidFill>
              </a:rPr>
              <a:t>Capital Goods:</a:t>
            </a:r>
            <a:endParaRPr sz="1600" b="1">
              <a:solidFill>
                <a:schemeClr val="dk1"/>
              </a:solidFill>
            </a:endParaRPr>
          </a:p>
          <a:p>
            <a:pPr marL="0" lvl="0" indent="0" algn="l" rtl="0">
              <a:lnSpc>
                <a:spcPct val="100000"/>
              </a:lnSpc>
              <a:spcBef>
                <a:spcPts val="0"/>
              </a:spcBef>
              <a:spcAft>
                <a:spcPts val="0"/>
              </a:spcAft>
              <a:buNone/>
            </a:pPr>
            <a:r>
              <a:rPr lang="en-US">
                <a:solidFill>
                  <a:schemeClr val="dk1"/>
                </a:solidFill>
              </a:rPr>
              <a:t>Man-made, durable items used by businesses to produce other goods or services. They are </a:t>
            </a:r>
            <a:r>
              <a:rPr lang="en-US" b="1">
                <a:solidFill>
                  <a:schemeClr val="dk1"/>
                </a:solidFill>
              </a:rPr>
              <a:t>not</a:t>
            </a:r>
            <a:r>
              <a:rPr lang="en-US">
                <a:solidFill>
                  <a:schemeClr val="dk1"/>
                </a:solidFill>
              </a:rPr>
              <a:t> consumed by individuals.</a:t>
            </a:r>
            <a:br>
              <a:rPr lang="en-US">
                <a:solidFill>
                  <a:schemeClr val="dk1"/>
                </a:solidFill>
              </a:rPr>
            </a:br>
            <a:r>
              <a:rPr lang="en-US">
                <a:solidFill>
                  <a:schemeClr val="dk1"/>
                </a:solidFill>
              </a:rPr>
              <a:t>Examples: machinery, tools, factory buildings, vehicles used for production.</a:t>
            </a:r>
            <a:endParaRPr>
              <a:solidFill>
                <a:schemeClr val="dk1"/>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2489</Words>
  <Application>Microsoft Office PowerPoint</Application>
  <PresentationFormat>Widescreen</PresentationFormat>
  <Paragraphs>251</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Roboto Mono</vt:lpstr>
      <vt:lpstr>Play</vt:lpstr>
      <vt:lpstr>Arial</vt:lpstr>
      <vt:lpstr>Office Theme</vt:lpstr>
      <vt:lpstr>Assessing Economic Vulnerability with Trade Dependency</vt:lpstr>
      <vt:lpstr>Objectives</vt:lpstr>
      <vt:lpstr>Data sourcing, auditing and wrangling</vt:lpstr>
      <vt:lpstr>Which Region and Countries are the  Most Trade Dependent?</vt:lpstr>
      <vt:lpstr>Which region is the most trade-dependent?</vt:lpstr>
      <vt:lpstr>Within Europe, which countries have the highest trade dependency?</vt:lpstr>
      <vt:lpstr>Import Dependency vs Export Dependency  of the most trade dependent countries in Europe</vt:lpstr>
      <vt:lpstr>Import Dependency vs Export Dependency</vt:lpstr>
      <vt:lpstr>Which product categories drive  the top trade dependent countries?</vt:lpstr>
      <vt:lpstr>Products Behind Trade Dependence Countries in Europe</vt:lpstr>
      <vt:lpstr>Products Behind Trade Dependence Countries in Europe</vt:lpstr>
      <vt:lpstr>Products Behind Trade Dependence Countries in Europe</vt:lpstr>
      <vt:lpstr>Implications</vt:lpstr>
      <vt:lpstr>IMPLICATIONS FOR DECISION MAKERS </vt:lpstr>
      <vt:lpstr>Limitations</vt:lpstr>
      <vt:lpstr>Limitation</vt:lpstr>
      <vt:lpstr>Web scraping Plan</vt:lpstr>
      <vt:lpstr>Conclusion</vt:lpstr>
      <vt:lpstr>References</vt:lpstr>
      <vt:lpstr>Reference List</vt:lpstr>
      <vt:lpstr>Appendix</vt:lpstr>
      <vt:lpstr>Definition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RAMIREZ Elva</dc:creator>
  <cp:lastModifiedBy>sai krishna</cp:lastModifiedBy>
  <cp:revision>1</cp:revision>
  <dcterms:created xsi:type="dcterms:W3CDTF">2025-05-21T03:00:38Z</dcterms:created>
  <dcterms:modified xsi:type="dcterms:W3CDTF">2026-06-29T12:37:55Z</dcterms:modified>
</cp:coreProperties>
</file>